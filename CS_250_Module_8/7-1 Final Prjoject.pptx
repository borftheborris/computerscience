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Montserrat" charset="1" panose="00000500000000000000"/>
      <p:regular r:id="rId13"/>
    </p:embeddedFont>
    <p:embeddedFont>
      <p:font typeface="Museo Moderno Bold" charset="1" panose="00000000000000000000"/>
      <p:regular r:id="rId14"/>
    </p:embeddedFont>
    <p:embeddedFont>
      <p:font typeface="Museo Moderno" charset="1" panose="00000000000000000000"/>
      <p:regular r:id="rId15"/>
    </p:embeddedFont>
    <p:embeddedFont>
      <p:font typeface="Montserrat Ultra-Bold" charset="1" panose="00000900000000000000"/>
      <p:regular r:id="rId16"/>
    </p:embeddedFont>
    <p:embeddedFont>
      <p:font typeface="Montserrat Bold" charset="1" panose="000008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https://doi.org/10.3390/app15020824" TargetMode="External" Type="http://schemas.openxmlformats.org/officeDocument/2006/relationships/hyperlink"/><Relationship Id="rId6" Target="https://doi.org/10.3390/jtaer20020146" TargetMode="External" Type="http://schemas.openxmlformats.org/officeDocument/2006/relationships/hyperlink"/><Relationship Id="rId7" Target="https://doi.org/10.1109/IES67184.2025.11161121" TargetMode="External" Type="http://schemas.openxmlformats.org/officeDocument/2006/relationships/hyperlink"/><Relationship Id="rId8" Target="https://doi.org/10.1109/FIE56618.2022.9962502" TargetMode="External" Type="http://schemas.openxmlformats.org/officeDocument/2006/relationships/hyperlink"/><Relationship Id="rId9"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0632">
                <a:alpha val="100000"/>
              </a:srgbClr>
            </a:gs>
            <a:gs pos="100000">
              <a:srgbClr val="000C4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9290699" y="-864714"/>
            <a:ext cx="8997301" cy="12016429"/>
          </a:xfrm>
          <a:custGeom>
            <a:avLst/>
            <a:gdLst/>
            <a:ahLst/>
            <a:cxnLst/>
            <a:rect r="r" b="b" t="t" l="l"/>
            <a:pathLst>
              <a:path h="12016429" w="8997301">
                <a:moveTo>
                  <a:pt x="0" y="0"/>
                </a:moveTo>
                <a:lnTo>
                  <a:pt x="8997301" y="0"/>
                </a:lnTo>
                <a:lnTo>
                  <a:pt x="8997301" y="12016428"/>
                </a:lnTo>
                <a:lnTo>
                  <a:pt x="0" y="12016428"/>
                </a:lnTo>
                <a:lnTo>
                  <a:pt x="0" y="0"/>
                </a:lnTo>
                <a:close/>
              </a:path>
            </a:pathLst>
          </a:custGeom>
          <a:blipFill>
            <a:blip r:embed="rId2">
              <a:alphaModFix amt="46000"/>
            </a:blip>
            <a:stretch>
              <a:fillRect l="0" t="0" r="0" b="0"/>
            </a:stretch>
          </a:blipFill>
        </p:spPr>
      </p:sp>
      <p:sp>
        <p:nvSpPr>
          <p:cNvPr name="Freeform 3" id="3"/>
          <p:cNvSpPr/>
          <p:nvPr/>
        </p:nvSpPr>
        <p:spPr>
          <a:xfrm flipH="false" flipV="false" rot="0">
            <a:off x="34263" y="-864714"/>
            <a:ext cx="8997301" cy="12016429"/>
          </a:xfrm>
          <a:custGeom>
            <a:avLst/>
            <a:gdLst/>
            <a:ahLst/>
            <a:cxnLst/>
            <a:rect r="r" b="b" t="t" l="l"/>
            <a:pathLst>
              <a:path h="12016429" w="8997301">
                <a:moveTo>
                  <a:pt x="0" y="0"/>
                </a:moveTo>
                <a:lnTo>
                  <a:pt x="8997301" y="0"/>
                </a:lnTo>
                <a:lnTo>
                  <a:pt x="8997301" y="12016428"/>
                </a:lnTo>
                <a:lnTo>
                  <a:pt x="0" y="12016428"/>
                </a:lnTo>
                <a:lnTo>
                  <a:pt x="0" y="0"/>
                </a:lnTo>
                <a:close/>
              </a:path>
            </a:pathLst>
          </a:custGeom>
          <a:blipFill>
            <a:blip r:embed="rId2">
              <a:alphaModFix amt="46000"/>
            </a:blip>
            <a:stretch>
              <a:fillRect l="0" t="0" r="0" b="0"/>
            </a:stretch>
          </a:blipFill>
        </p:spPr>
      </p:sp>
      <p:grpSp>
        <p:nvGrpSpPr>
          <p:cNvPr name="Group 4" id="4"/>
          <p:cNvGrpSpPr/>
          <p:nvPr/>
        </p:nvGrpSpPr>
        <p:grpSpPr>
          <a:xfrm rot="0">
            <a:off x="2854716" y="-585021"/>
            <a:ext cx="13313065" cy="2284102"/>
            <a:chOff x="0" y="0"/>
            <a:chExt cx="3506322" cy="601574"/>
          </a:xfrm>
        </p:grpSpPr>
        <p:sp>
          <p:nvSpPr>
            <p:cNvPr name="Freeform 5" id="5"/>
            <p:cNvSpPr/>
            <p:nvPr/>
          </p:nvSpPr>
          <p:spPr>
            <a:xfrm flipH="false" flipV="false" rot="0">
              <a:off x="0" y="0"/>
              <a:ext cx="3506322" cy="601574"/>
            </a:xfrm>
            <a:custGeom>
              <a:avLst/>
              <a:gdLst/>
              <a:ahLst/>
              <a:cxnLst/>
              <a:rect r="r" b="b" t="t" l="l"/>
              <a:pathLst>
                <a:path h="601574" w="3506322">
                  <a:moveTo>
                    <a:pt x="25587" y="0"/>
                  </a:moveTo>
                  <a:lnTo>
                    <a:pt x="3480734" y="0"/>
                  </a:lnTo>
                  <a:cubicBezTo>
                    <a:pt x="3494866" y="0"/>
                    <a:pt x="3506322" y="11456"/>
                    <a:pt x="3506322" y="25587"/>
                  </a:cubicBezTo>
                  <a:lnTo>
                    <a:pt x="3506322" y="575987"/>
                  </a:lnTo>
                  <a:cubicBezTo>
                    <a:pt x="3506322" y="582773"/>
                    <a:pt x="3503626" y="589281"/>
                    <a:pt x="3498827" y="594080"/>
                  </a:cubicBezTo>
                  <a:cubicBezTo>
                    <a:pt x="3494029" y="598879"/>
                    <a:pt x="3487520" y="601574"/>
                    <a:pt x="3480734" y="601574"/>
                  </a:cubicBezTo>
                  <a:lnTo>
                    <a:pt x="25587" y="601574"/>
                  </a:lnTo>
                  <a:cubicBezTo>
                    <a:pt x="11456" y="601574"/>
                    <a:pt x="0" y="590118"/>
                    <a:pt x="0" y="575987"/>
                  </a:cubicBezTo>
                  <a:lnTo>
                    <a:pt x="0" y="25587"/>
                  </a:lnTo>
                  <a:cubicBezTo>
                    <a:pt x="0" y="18801"/>
                    <a:pt x="2696" y="12293"/>
                    <a:pt x="7494" y="7494"/>
                  </a:cubicBezTo>
                  <a:cubicBezTo>
                    <a:pt x="12293" y="2696"/>
                    <a:pt x="18801" y="0"/>
                    <a:pt x="25587" y="0"/>
                  </a:cubicBez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6" id="6"/>
            <p:cNvSpPr txBox="true"/>
            <p:nvPr/>
          </p:nvSpPr>
          <p:spPr>
            <a:xfrm>
              <a:off x="0" y="-38100"/>
              <a:ext cx="3506322" cy="639674"/>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514350" y="-585021"/>
            <a:ext cx="20051197" cy="1050288"/>
            <a:chOff x="0" y="0"/>
            <a:chExt cx="5280974" cy="276619"/>
          </a:xfrm>
        </p:grpSpPr>
        <p:sp>
          <p:nvSpPr>
            <p:cNvPr name="Freeform 8" id="8"/>
            <p:cNvSpPr/>
            <p:nvPr/>
          </p:nvSpPr>
          <p:spPr>
            <a:xfrm flipH="false" flipV="false" rot="0">
              <a:off x="0" y="0"/>
              <a:ext cx="5280974" cy="276619"/>
            </a:xfrm>
            <a:custGeom>
              <a:avLst/>
              <a:gdLst/>
              <a:ahLst/>
              <a:cxnLst/>
              <a:rect r="r" b="b" t="t" l="l"/>
              <a:pathLst>
                <a:path h="276619" w="5280974">
                  <a:moveTo>
                    <a:pt x="0" y="0"/>
                  </a:moveTo>
                  <a:lnTo>
                    <a:pt x="5280974" y="0"/>
                  </a:lnTo>
                  <a:lnTo>
                    <a:pt x="5280974" y="276619"/>
                  </a:lnTo>
                  <a:lnTo>
                    <a:pt x="0" y="276619"/>
                  </a:ln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9" id="9"/>
            <p:cNvSpPr txBox="true"/>
            <p:nvPr/>
          </p:nvSpPr>
          <p:spPr>
            <a:xfrm>
              <a:off x="0" y="-57150"/>
              <a:ext cx="5280974" cy="333769"/>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5400000">
            <a:off x="7061200" y="-939800"/>
            <a:ext cx="4165600" cy="18288000"/>
          </a:xfrm>
          <a:custGeom>
            <a:avLst/>
            <a:gdLst/>
            <a:ahLst/>
            <a:cxnLst/>
            <a:rect r="r" b="b" t="t" l="l"/>
            <a:pathLst>
              <a:path h="18288000" w="4165600">
                <a:moveTo>
                  <a:pt x="0" y="0"/>
                </a:moveTo>
                <a:lnTo>
                  <a:pt x="4165600" y="0"/>
                </a:lnTo>
                <a:lnTo>
                  <a:pt x="4165600" y="18288000"/>
                </a:lnTo>
                <a:lnTo>
                  <a:pt x="0" y="18288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028700" y="1699081"/>
            <a:ext cx="3657219" cy="3657219"/>
          </a:xfrm>
          <a:custGeom>
            <a:avLst/>
            <a:gdLst/>
            <a:ahLst/>
            <a:cxnLst/>
            <a:rect r="r" b="b" t="t" l="l"/>
            <a:pathLst>
              <a:path h="3657219" w="3657219">
                <a:moveTo>
                  <a:pt x="0" y="0"/>
                </a:moveTo>
                <a:lnTo>
                  <a:pt x="3657219" y="0"/>
                </a:lnTo>
                <a:lnTo>
                  <a:pt x="3657219" y="3657219"/>
                </a:lnTo>
                <a:lnTo>
                  <a:pt x="0" y="36572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3701639" y="789537"/>
            <a:ext cx="1662550"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Roles</a:t>
            </a:r>
          </a:p>
        </p:txBody>
      </p:sp>
      <p:sp>
        <p:nvSpPr>
          <p:cNvPr name="TextBox 13" id="13"/>
          <p:cNvSpPr txBox="true"/>
          <p:nvPr/>
        </p:nvSpPr>
        <p:spPr>
          <a:xfrm rot="0">
            <a:off x="6244335" y="791750"/>
            <a:ext cx="1907082"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Phases</a:t>
            </a:r>
          </a:p>
        </p:txBody>
      </p:sp>
      <p:sp>
        <p:nvSpPr>
          <p:cNvPr name="TextBox 14" id="14"/>
          <p:cNvSpPr txBox="true"/>
          <p:nvPr/>
        </p:nvSpPr>
        <p:spPr>
          <a:xfrm rot="0">
            <a:off x="9276645" y="789537"/>
            <a:ext cx="2274990"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Comparison</a:t>
            </a:r>
          </a:p>
        </p:txBody>
      </p:sp>
      <p:sp>
        <p:nvSpPr>
          <p:cNvPr name="TextBox 15" id="15"/>
          <p:cNvSpPr txBox="true"/>
          <p:nvPr/>
        </p:nvSpPr>
        <p:spPr>
          <a:xfrm rot="0">
            <a:off x="12676862" y="797895"/>
            <a:ext cx="2224975"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Reference</a:t>
            </a:r>
          </a:p>
        </p:txBody>
      </p:sp>
      <p:sp>
        <p:nvSpPr>
          <p:cNvPr name="TextBox 16" id="16"/>
          <p:cNvSpPr txBox="true"/>
          <p:nvPr/>
        </p:nvSpPr>
        <p:spPr>
          <a:xfrm rot="0">
            <a:off x="3227656" y="2909329"/>
            <a:ext cx="11832689" cy="2369786"/>
          </a:xfrm>
          <a:prstGeom prst="rect">
            <a:avLst/>
          </a:prstGeom>
        </p:spPr>
        <p:txBody>
          <a:bodyPr anchor="t" rtlCol="false" tIns="0" lIns="0" bIns="0" rIns="0">
            <a:spAutoFit/>
          </a:bodyPr>
          <a:lstStyle/>
          <a:p>
            <a:pPr algn="ctr">
              <a:lnSpc>
                <a:spcPts val="9556"/>
              </a:lnSpc>
            </a:pPr>
            <a:r>
              <a:rPr lang="en-US" sz="6826" b="true">
                <a:solidFill>
                  <a:srgbClr val="FFFFFF"/>
                </a:solidFill>
                <a:latin typeface="Museo Moderno Bold"/>
                <a:ea typeface="Museo Moderno Bold"/>
                <a:cs typeface="Museo Moderno Bold"/>
                <a:sym typeface="Museo Moderno Bold"/>
              </a:rPr>
              <a:t>Agile Development and Scrum Framework: </a:t>
            </a:r>
          </a:p>
        </p:txBody>
      </p:sp>
      <p:sp>
        <p:nvSpPr>
          <p:cNvPr name="TextBox 17" id="17"/>
          <p:cNvSpPr txBox="true"/>
          <p:nvPr/>
        </p:nvSpPr>
        <p:spPr>
          <a:xfrm rot="0">
            <a:off x="3584350" y="5578712"/>
            <a:ext cx="11119299" cy="769818"/>
          </a:xfrm>
          <a:prstGeom prst="rect">
            <a:avLst/>
          </a:prstGeom>
        </p:spPr>
        <p:txBody>
          <a:bodyPr anchor="t" rtlCol="false" tIns="0" lIns="0" bIns="0" rIns="0">
            <a:spAutoFit/>
          </a:bodyPr>
          <a:lstStyle/>
          <a:p>
            <a:pPr algn="ctr">
              <a:lnSpc>
                <a:spcPts val="6394"/>
              </a:lnSpc>
            </a:pPr>
            <a:r>
              <a:rPr lang="en-US" sz="4567">
                <a:solidFill>
                  <a:srgbClr val="FFFFFF"/>
                </a:solidFill>
                <a:latin typeface="Museo Moderno"/>
                <a:ea typeface="Museo Moderno"/>
                <a:cs typeface="Museo Moderno"/>
                <a:sym typeface="Museo Moderno"/>
              </a:rPr>
              <a:t>A Comparative Analysis for ChadaTech</a:t>
            </a:r>
          </a:p>
        </p:txBody>
      </p:sp>
      <p:sp>
        <p:nvSpPr>
          <p:cNvPr name="TextBox 18" id="18"/>
          <p:cNvSpPr txBox="true"/>
          <p:nvPr/>
        </p:nvSpPr>
        <p:spPr>
          <a:xfrm rot="0">
            <a:off x="14141979" y="8862060"/>
            <a:ext cx="3117321" cy="396240"/>
          </a:xfrm>
          <a:prstGeom prst="rect">
            <a:avLst/>
          </a:prstGeom>
        </p:spPr>
        <p:txBody>
          <a:bodyPr anchor="t" rtlCol="false" tIns="0" lIns="0" bIns="0" rIns="0">
            <a:spAutoFit/>
          </a:bodyPr>
          <a:lstStyle/>
          <a:p>
            <a:pPr algn="r">
              <a:lnSpc>
                <a:spcPts val="3359"/>
              </a:lnSpc>
              <a:spcBef>
                <a:spcPct val="0"/>
              </a:spcBef>
            </a:pPr>
            <a:r>
              <a:rPr lang="en-US" sz="2399">
                <a:solidFill>
                  <a:srgbClr val="EFEFEF"/>
                </a:solidFill>
                <a:latin typeface="Montserrat"/>
                <a:ea typeface="Montserrat"/>
                <a:cs typeface="Montserrat"/>
                <a:sym typeface="Montserrat"/>
              </a:rPr>
              <a:t>Presentation 2025</a:t>
            </a:r>
          </a:p>
        </p:txBody>
      </p:sp>
      <p:sp>
        <p:nvSpPr>
          <p:cNvPr name="TextBox 19" id="19"/>
          <p:cNvSpPr txBox="true"/>
          <p:nvPr/>
        </p:nvSpPr>
        <p:spPr>
          <a:xfrm rot="0">
            <a:off x="1028700" y="8862060"/>
            <a:ext cx="3117321" cy="396240"/>
          </a:xfrm>
          <a:prstGeom prst="rect">
            <a:avLst/>
          </a:prstGeom>
        </p:spPr>
        <p:txBody>
          <a:bodyPr anchor="t" rtlCol="false" tIns="0" lIns="0" bIns="0" rIns="0">
            <a:spAutoFit/>
          </a:bodyPr>
          <a:lstStyle/>
          <a:p>
            <a:pPr algn="just">
              <a:lnSpc>
                <a:spcPts val="3359"/>
              </a:lnSpc>
              <a:spcBef>
                <a:spcPct val="0"/>
              </a:spcBef>
            </a:pPr>
            <a:r>
              <a:rPr lang="en-US" sz="2399">
                <a:solidFill>
                  <a:srgbClr val="EFEFEF"/>
                </a:solidFill>
                <a:latin typeface="Montserrat"/>
                <a:ea typeface="Montserrat"/>
                <a:cs typeface="Montserrat"/>
                <a:sym typeface="Montserrat"/>
              </a:rPr>
              <a:t>Kyle McCrea</a:t>
            </a:r>
          </a:p>
        </p:txBody>
      </p:sp>
      <p:sp>
        <p:nvSpPr>
          <p:cNvPr name="TextBox 20" id="20"/>
          <p:cNvSpPr txBox="true"/>
          <p:nvPr/>
        </p:nvSpPr>
        <p:spPr>
          <a:xfrm rot="0">
            <a:off x="7585339" y="8862060"/>
            <a:ext cx="3117321" cy="396240"/>
          </a:xfrm>
          <a:prstGeom prst="rect">
            <a:avLst/>
          </a:prstGeom>
        </p:spPr>
        <p:txBody>
          <a:bodyPr anchor="t" rtlCol="false" tIns="0" lIns="0" bIns="0" rIns="0">
            <a:spAutoFit/>
          </a:bodyPr>
          <a:lstStyle/>
          <a:p>
            <a:pPr algn="ctr">
              <a:lnSpc>
                <a:spcPts val="3359"/>
              </a:lnSpc>
              <a:spcBef>
                <a:spcPct val="0"/>
              </a:spcBef>
            </a:pPr>
            <a:r>
              <a:rPr lang="en-US" sz="2399">
                <a:solidFill>
                  <a:srgbClr val="EFEFEF"/>
                </a:solidFill>
                <a:latin typeface="Montserrat"/>
                <a:ea typeface="Montserrat"/>
                <a:cs typeface="Montserrat"/>
                <a:sym typeface="Montserrat"/>
              </a:rPr>
              <a:t>CS-250</a:t>
            </a:r>
          </a:p>
        </p:txBody>
      </p:sp>
      <p:sp>
        <p:nvSpPr>
          <p:cNvPr name="TextBox 21" id="21"/>
          <p:cNvSpPr txBox="true"/>
          <p:nvPr/>
        </p:nvSpPr>
        <p:spPr>
          <a:xfrm rot="0">
            <a:off x="5484590" y="8862060"/>
            <a:ext cx="1406261" cy="396240"/>
          </a:xfrm>
          <a:prstGeom prst="rect">
            <a:avLst/>
          </a:prstGeom>
        </p:spPr>
        <p:txBody>
          <a:bodyPr anchor="t" rtlCol="false" tIns="0" lIns="0" bIns="0" rIns="0">
            <a:spAutoFit/>
          </a:bodyPr>
          <a:lstStyle/>
          <a:p>
            <a:pPr algn="ctr">
              <a:lnSpc>
                <a:spcPts val="3359"/>
              </a:lnSpc>
              <a:spcBef>
                <a:spcPct val="0"/>
              </a:spcBef>
            </a:pPr>
            <a:r>
              <a:rPr lang="en-US" sz="2399">
                <a:solidFill>
                  <a:srgbClr val="EFEFEF"/>
                </a:solidFill>
                <a:latin typeface="Montserrat"/>
                <a:ea typeface="Montserrat"/>
                <a:cs typeface="Montserrat"/>
                <a:sym typeface="Montserrat"/>
              </a:rPr>
              <a:t>-</a:t>
            </a:r>
          </a:p>
        </p:txBody>
      </p:sp>
      <p:sp>
        <p:nvSpPr>
          <p:cNvPr name="TextBox 22" id="22"/>
          <p:cNvSpPr txBox="true"/>
          <p:nvPr/>
        </p:nvSpPr>
        <p:spPr>
          <a:xfrm rot="0">
            <a:off x="12045686" y="8862060"/>
            <a:ext cx="1406261" cy="396240"/>
          </a:xfrm>
          <a:prstGeom prst="rect">
            <a:avLst/>
          </a:prstGeom>
        </p:spPr>
        <p:txBody>
          <a:bodyPr anchor="t" rtlCol="false" tIns="0" lIns="0" bIns="0" rIns="0">
            <a:spAutoFit/>
          </a:bodyPr>
          <a:lstStyle/>
          <a:p>
            <a:pPr algn="ctr">
              <a:lnSpc>
                <a:spcPts val="3359"/>
              </a:lnSpc>
              <a:spcBef>
                <a:spcPct val="0"/>
              </a:spcBef>
            </a:pPr>
            <a:r>
              <a:rPr lang="en-US" sz="2399">
                <a:solidFill>
                  <a:srgbClr val="EFEFEF"/>
                </a:solidFill>
                <a:latin typeface="Montserrat"/>
                <a:ea typeface="Montserrat"/>
                <a:cs typeface="Montserrat"/>
                <a:sym typeface="Montserrat"/>
              </a:rPr>
              <a:t>-</a:t>
            </a:r>
          </a:p>
        </p:txBody>
      </p:sp>
      <p:sp>
        <p:nvSpPr>
          <p:cNvPr name="Freeform 23" id="23"/>
          <p:cNvSpPr/>
          <p:nvPr/>
        </p:nvSpPr>
        <p:spPr>
          <a:xfrm flipH="false" flipV="false" rot="0">
            <a:off x="16459390" y="4173111"/>
            <a:ext cx="3657219" cy="3657219"/>
          </a:xfrm>
          <a:custGeom>
            <a:avLst/>
            <a:gdLst/>
            <a:ahLst/>
            <a:cxnLst/>
            <a:rect r="r" b="b" t="t" l="l"/>
            <a:pathLst>
              <a:path h="3657219" w="3657219">
                <a:moveTo>
                  <a:pt x="0" y="0"/>
                </a:moveTo>
                <a:lnTo>
                  <a:pt x="3657220" y="0"/>
                </a:lnTo>
                <a:lnTo>
                  <a:pt x="3657220" y="3657219"/>
                </a:lnTo>
                <a:lnTo>
                  <a:pt x="0" y="36572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0632">
                <a:alpha val="100000"/>
              </a:srgbClr>
            </a:gs>
            <a:gs pos="100000">
              <a:srgbClr val="000C4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9290699" y="-864714"/>
            <a:ext cx="8997301" cy="12016429"/>
          </a:xfrm>
          <a:custGeom>
            <a:avLst/>
            <a:gdLst/>
            <a:ahLst/>
            <a:cxnLst/>
            <a:rect r="r" b="b" t="t" l="l"/>
            <a:pathLst>
              <a:path h="12016429" w="8997301">
                <a:moveTo>
                  <a:pt x="0" y="0"/>
                </a:moveTo>
                <a:lnTo>
                  <a:pt x="8997301" y="0"/>
                </a:lnTo>
                <a:lnTo>
                  <a:pt x="8997301" y="12016428"/>
                </a:lnTo>
                <a:lnTo>
                  <a:pt x="0" y="12016428"/>
                </a:lnTo>
                <a:lnTo>
                  <a:pt x="0" y="0"/>
                </a:lnTo>
                <a:close/>
              </a:path>
            </a:pathLst>
          </a:custGeom>
          <a:blipFill>
            <a:blip r:embed="rId2">
              <a:alphaModFix amt="46000"/>
            </a:blip>
            <a:stretch>
              <a:fillRect l="0" t="0" r="0" b="0"/>
            </a:stretch>
          </a:blipFill>
        </p:spPr>
      </p:sp>
      <p:sp>
        <p:nvSpPr>
          <p:cNvPr name="Freeform 3" id="3"/>
          <p:cNvSpPr/>
          <p:nvPr/>
        </p:nvSpPr>
        <p:spPr>
          <a:xfrm flipH="false" flipV="false" rot="0">
            <a:off x="34263" y="-1112325"/>
            <a:ext cx="8997301" cy="12016429"/>
          </a:xfrm>
          <a:custGeom>
            <a:avLst/>
            <a:gdLst/>
            <a:ahLst/>
            <a:cxnLst/>
            <a:rect r="r" b="b" t="t" l="l"/>
            <a:pathLst>
              <a:path h="12016429" w="8997301">
                <a:moveTo>
                  <a:pt x="0" y="0"/>
                </a:moveTo>
                <a:lnTo>
                  <a:pt x="8997301" y="0"/>
                </a:lnTo>
                <a:lnTo>
                  <a:pt x="8997301" y="12016429"/>
                </a:lnTo>
                <a:lnTo>
                  <a:pt x="0" y="12016429"/>
                </a:lnTo>
                <a:lnTo>
                  <a:pt x="0" y="0"/>
                </a:lnTo>
                <a:close/>
              </a:path>
            </a:pathLst>
          </a:custGeom>
          <a:blipFill>
            <a:blip r:embed="rId2">
              <a:alphaModFix amt="46000"/>
            </a:blip>
            <a:stretch>
              <a:fillRect l="0" t="0" r="0" b="0"/>
            </a:stretch>
          </a:blipFill>
        </p:spPr>
      </p:sp>
      <p:grpSp>
        <p:nvGrpSpPr>
          <p:cNvPr name="Group 4" id="4"/>
          <p:cNvGrpSpPr/>
          <p:nvPr/>
        </p:nvGrpSpPr>
        <p:grpSpPr>
          <a:xfrm rot="0">
            <a:off x="-514350" y="-585021"/>
            <a:ext cx="20051197" cy="1050288"/>
            <a:chOff x="0" y="0"/>
            <a:chExt cx="5280974" cy="276619"/>
          </a:xfrm>
        </p:grpSpPr>
        <p:sp>
          <p:nvSpPr>
            <p:cNvPr name="Freeform 5" id="5"/>
            <p:cNvSpPr/>
            <p:nvPr/>
          </p:nvSpPr>
          <p:spPr>
            <a:xfrm flipH="false" flipV="false" rot="0">
              <a:off x="0" y="0"/>
              <a:ext cx="5280974" cy="276619"/>
            </a:xfrm>
            <a:custGeom>
              <a:avLst/>
              <a:gdLst/>
              <a:ahLst/>
              <a:cxnLst/>
              <a:rect r="r" b="b" t="t" l="l"/>
              <a:pathLst>
                <a:path h="276619" w="5280974">
                  <a:moveTo>
                    <a:pt x="0" y="0"/>
                  </a:moveTo>
                  <a:lnTo>
                    <a:pt x="5280974" y="0"/>
                  </a:lnTo>
                  <a:lnTo>
                    <a:pt x="5280974" y="276619"/>
                  </a:lnTo>
                  <a:lnTo>
                    <a:pt x="0" y="276619"/>
                  </a:ln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6" id="6"/>
            <p:cNvSpPr txBox="true"/>
            <p:nvPr/>
          </p:nvSpPr>
          <p:spPr>
            <a:xfrm>
              <a:off x="0" y="-57150"/>
              <a:ext cx="5280974" cy="33376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5400000">
            <a:off x="7061200" y="-939800"/>
            <a:ext cx="4165600" cy="18288000"/>
          </a:xfrm>
          <a:custGeom>
            <a:avLst/>
            <a:gdLst/>
            <a:ahLst/>
            <a:cxnLst/>
            <a:rect r="r" b="b" t="t" l="l"/>
            <a:pathLst>
              <a:path h="18288000" w="4165600">
                <a:moveTo>
                  <a:pt x="0" y="0"/>
                </a:moveTo>
                <a:lnTo>
                  <a:pt x="4165600" y="0"/>
                </a:lnTo>
                <a:lnTo>
                  <a:pt x="4165600" y="18288000"/>
                </a:lnTo>
                <a:lnTo>
                  <a:pt x="0" y="18288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465867" y="1971032"/>
            <a:ext cx="8045381" cy="1782576"/>
          </a:xfrm>
          <a:prstGeom prst="rect">
            <a:avLst/>
          </a:prstGeom>
        </p:spPr>
        <p:txBody>
          <a:bodyPr anchor="t" rtlCol="false" tIns="0" lIns="0" bIns="0" rIns="0">
            <a:spAutoFit/>
          </a:bodyPr>
          <a:lstStyle/>
          <a:p>
            <a:pPr algn="l">
              <a:lnSpc>
                <a:spcPts val="13714"/>
              </a:lnSpc>
            </a:pPr>
            <a:r>
              <a:rPr lang="en-US" sz="12817" b="true">
                <a:solidFill>
                  <a:srgbClr val="FFFFFF"/>
                </a:solidFill>
                <a:latin typeface="Museo Moderno Bold"/>
                <a:ea typeface="Museo Moderno Bold"/>
                <a:cs typeface="Museo Moderno Bold"/>
                <a:sym typeface="Museo Moderno Bold"/>
              </a:rPr>
              <a:t>Roles</a:t>
            </a:r>
          </a:p>
        </p:txBody>
      </p:sp>
      <p:sp>
        <p:nvSpPr>
          <p:cNvPr name="TextBox 9" id="9"/>
          <p:cNvSpPr txBox="true"/>
          <p:nvPr/>
        </p:nvSpPr>
        <p:spPr>
          <a:xfrm rot="0">
            <a:off x="1702691" y="4884274"/>
            <a:ext cx="3997897" cy="470826"/>
          </a:xfrm>
          <a:prstGeom prst="rect">
            <a:avLst/>
          </a:prstGeom>
        </p:spPr>
        <p:txBody>
          <a:bodyPr anchor="t" rtlCol="false" tIns="0" lIns="0" bIns="0" rIns="0">
            <a:spAutoFit/>
          </a:bodyPr>
          <a:lstStyle/>
          <a:p>
            <a:pPr algn="just">
              <a:lnSpc>
                <a:spcPts val="3973"/>
              </a:lnSpc>
              <a:spcBef>
                <a:spcPct val="0"/>
              </a:spcBef>
            </a:pPr>
            <a:r>
              <a:rPr lang="en-US" b="true" sz="2838">
                <a:solidFill>
                  <a:srgbClr val="FFFFFF"/>
                </a:solidFill>
                <a:latin typeface="Montserrat Ultra-Bold"/>
                <a:ea typeface="Montserrat Ultra-Bold"/>
                <a:cs typeface="Montserrat Ultra-Bold"/>
                <a:sym typeface="Montserrat Ultra-Bold"/>
              </a:rPr>
              <a:t>PRODUCT OWNER</a:t>
            </a:r>
          </a:p>
        </p:txBody>
      </p:sp>
      <p:sp>
        <p:nvSpPr>
          <p:cNvPr name="TextBox 10" id="10"/>
          <p:cNvSpPr txBox="true"/>
          <p:nvPr/>
        </p:nvSpPr>
        <p:spPr>
          <a:xfrm rot="0">
            <a:off x="1702691" y="7696111"/>
            <a:ext cx="3530397" cy="470826"/>
          </a:xfrm>
          <a:prstGeom prst="rect">
            <a:avLst/>
          </a:prstGeom>
        </p:spPr>
        <p:txBody>
          <a:bodyPr anchor="t" rtlCol="false" tIns="0" lIns="0" bIns="0" rIns="0">
            <a:spAutoFit/>
          </a:bodyPr>
          <a:lstStyle/>
          <a:p>
            <a:pPr algn="just">
              <a:lnSpc>
                <a:spcPts val="3973"/>
              </a:lnSpc>
              <a:spcBef>
                <a:spcPct val="0"/>
              </a:spcBef>
            </a:pPr>
            <a:r>
              <a:rPr lang="en-US" b="true" sz="2838">
                <a:solidFill>
                  <a:srgbClr val="FFFFFF"/>
                </a:solidFill>
                <a:latin typeface="Montserrat Ultra-Bold"/>
                <a:ea typeface="Montserrat Ultra-Bold"/>
                <a:cs typeface="Montserrat Ultra-Bold"/>
                <a:sym typeface="Montserrat Ultra-Bold"/>
              </a:rPr>
              <a:t>SCRUM MASTER</a:t>
            </a:r>
          </a:p>
        </p:txBody>
      </p:sp>
      <p:sp>
        <p:nvSpPr>
          <p:cNvPr name="TextBox 11" id="11"/>
          <p:cNvSpPr txBox="true"/>
          <p:nvPr/>
        </p:nvSpPr>
        <p:spPr>
          <a:xfrm rot="0">
            <a:off x="1958161" y="8377612"/>
            <a:ext cx="14209620" cy="1099184"/>
          </a:xfrm>
          <a:prstGeom prst="rect">
            <a:avLst/>
          </a:prstGeom>
        </p:spPr>
        <p:txBody>
          <a:bodyPr anchor="t" rtlCol="false" tIns="0" lIns="0" bIns="0" rIns="0">
            <a:spAutoFit/>
          </a:bodyPr>
          <a:lstStyle/>
          <a:p>
            <a:pPr algn="just">
              <a:lnSpc>
                <a:spcPts val="2940"/>
              </a:lnSpc>
            </a:pPr>
            <a:r>
              <a:rPr lang="en-US" sz="2100">
                <a:solidFill>
                  <a:srgbClr val="FFFFFF"/>
                </a:solidFill>
                <a:latin typeface="Montserrat"/>
                <a:ea typeface="Montserrat"/>
                <a:cs typeface="Montserrat"/>
                <a:sym typeface="Montserrat"/>
              </a:rPr>
              <a:t>A Scrum Master is the practitioner who facilitates the Agile process, removes the obstacles, and ensures that the team is strictly following the prescribed principles of Scrum. Great Scrum Masters encourage continual honesty, sharing information, and healthy team collaboration</a:t>
            </a:r>
          </a:p>
        </p:txBody>
      </p:sp>
      <p:sp>
        <p:nvSpPr>
          <p:cNvPr name="Freeform 12" id="12"/>
          <p:cNvSpPr/>
          <p:nvPr/>
        </p:nvSpPr>
        <p:spPr>
          <a:xfrm flipH="true" flipV="false" rot="0">
            <a:off x="11650949" y="2719147"/>
            <a:ext cx="5696565" cy="5696565"/>
          </a:xfrm>
          <a:custGeom>
            <a:avLst/>
            <a:gdLst/>
            <a:ahLst/>
            <a:cxnLst/>
            <a:rect r="r" b="b" t="t" l="l"/>
            <a:pathLst>
              <a:path h="5696565" w="5696565">
                <a:moveTo>
                  <a:pt x="5696565" y="0"/>
                </a:moveTo>
                <a:lnTo>
                  <a:pt x="0" y="0"/>
                </a:lnTo>
                <a:lnTo>
                  <a:pt x="0" y="5696565"/>
                </a:lnTo>
                <a:lnTo>
                  <a:pt x="5696565" y="5696565"/>
                </a:lnTo>
                <a:lnTo>
                  <a:pt x="569656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1958161" y="5663477"/>
            <a:ext cx="15617522" cy="1470659"/>
          </a:xfrm>
          <a:prstGeom prst="rect">
            <a:avLst/>
          </a:prstGeom>
        </p:spPr>
        <p:txBody>
          <a:bodyPr anchor="t" rtlCol="false" tIns="0" lIns="0" bIns="0" rIns="0">
            <a:spAutoFit/>
          </a:bodyPr>
          <a:lstStyle/>
          <a:p>
            <a:pPr algn="just">
              <a:lnSpc>
                <a:spcPts val="2940"/>
              </a:lnSpc>
            </a:pPr>
            <a:r>
              <a:rPr lang="en-US" sz="2100">
                <a:solidFill>
                  <a:srgbClr val="FFFFFF"/>
                </a:solidFill>
                <a:latin typeface="Montserrat"/>
                <a:ea typeface="Montserrat"/>
                <a:cs typeface="Montserrat"/>
                <a:sym typeface="Montserrat"/>
              </a:rPr>
              <a:t>Field representatives discuss that the Product Owner is a vital role in a Scrum team as they manage the Product Backlog, prioritize user needs, and guarantee that the team is working on the highest-value features. Artifacts that are elementary in absolutely clear Scrum Website help diminish the risk and the possibility of failure of the project, thus proving the value of the Product Owner in project clarity (Bisikirskienė et al., 2025).</a:t>
            </a:r>
          </a:p>
        </p:txBody>
      </p:sp>
      <p:sp>
        <p:nvSpPr>
          <p:cNvPr name="Freeform 14" id="14"/>
          <p:cNvSpPr/>
          <p:nvPr/>
        </p:nvSpPr>
        <p:spPr>
          <a:xfrm flipH="true" flipV="false" rot="0">
            <a:off x="-1022160" y="1028700"/>
            <a:ext cx="2380246" cy="2380246"/>
          </a:xfrm>
          <a:custGeom>
            <a:avLst/>
            <a:gdLst/>
            <a:ahLst/>
            <a:cxnLst/>
            <a:rect r="r" b="b" t="t" l="l"/>
            <a:pathLst>
              <a:path h="2380246" w="2380246">
                <a:moveTo>
                  <a:pt x="2380246" y="0"/>
                </a:moveTo>
                <a:lnTo>
                  <a:pt x="0" y="0"/>
                </a:lnTo>
                <a:lnTo>
                  <a:pt x="0" y="2380246"/>
                </a:lnTo>
                <a:lnTo>
                  <a:pt x="2380246" y="2380246"/>
                </a:lnTo>
                <a:lnTo>
                  <a:pt x="2380246"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2854716" y="-585021"/>
            <a:ext cx="13313065" cy="2284102"/>
            <a:chOff x="0" y="0"/>
            <a:chExt cx="3506322" cy="601574"/>
          </a:xfrm>
        </p:grpSpPr>
        <p:sp>
          <p:nvSpPr>
            <p:cNvPr name="Freeform 16" id="16"/>
            <p:cNvSpPr/>
            <p:nvPr/>
          </p:nvSpPr>
          <p:spPr>
            <a:xfrm flipH="false" flipV="false" rot="0">
              <a:off x="0" y="0"/>
              <a:ext cx="3506322" cy="601574"/>
            </a:xfrm>
            <a:custGeom>
              <a:avLst/>
              <a:gdLst/>
              <a:ahLst/>
              <a:cxnLst/>
              <a:rect r="r" b="b" t="t" l="l"/>
              <a:pathLst>
                <a:path h="601574" w="3506322">
                  <a:moveTo>
                    <a:pt x="25587" y="0"/>
                  </a:moveTo>
                  <a:lnTo>
                    <a:pt x="3480734" y="0"/>
                  </a:lnTo>
                  <a:cubicBezTo>
                    <a:pt x="3494866" y="0"/>
                    <a:pt x="3506322" y="11456"/>
                    <a:pt x="3506322" y="25587"/>
                  </a:cubicBezTo>
                  <a:lnTo>
                    <a:pt x="3506322" y="575987"/>
                  </a:lnTo>
                  <a:cubicBezTo>
                    <a:pt x="3506322" y="582773"/>
                    <a:pt x="3503626" y="589281"/>
                    <a:pt x="3498827" y="594080"/>
                  </a:cubicBezTo>
                  <a:cubicBezTo>
                    <a:pt x="3494029" y="598879"/>
                    <a:pt x="3487520" y="601574"/>
                    <a:pt x="3480734" y="601574"/>
                  </a:cubicBezTo>
                  <a:lnTo>
                    <a:pt x="25587" y="601574"/>
                  </a:lnTo>
                  <a:cubicBezTo>
                    <a:pt x="11456" y="601574"/>
                    <a:pt x="0" y="590118"/>
                    <a:pt x="0" y="575987"/>
                  </a:cubicBezTo>
                  <a:lnTo>
                    <a:pt x="0" y="25587"/>
                  </a:lnTo>
                  <a:cubicBezTo>
                    <a:pt x="0" y="18801"/>
                    <a:pt x="2696" y="12293"/>
                    <a:pt x="7494" y="7494"/>
                  </a:cubicBezTo>
                  <a:cubicBezTo>
                    <a:pt x="12293" y="2696"/>
                    <a:pt x="18801" y="0"/>
                    <a:pt x="25587" y="0"/>
                  </a:cubicBez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17" id="17"/>
            <p:cNvSpPr txBox="true"/>
            <p:nvPr/>
          </p:nvSpPr>
          <p:spPr>
            <a:xfrm>
              <a:off x="0" y="-38100"/>
              <a:ext cx="3506322" cy="639674"/>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3701639" y="789537"/>
            <a:ext cx="1662550" cy="413986"/>
          </a:xfrm>
          <a:prstGeom prst="rect">
            <a:avLst/>
          </a:prstGeom>
        </p:spPr>
        <p:txBody>
          <a:bodyPr anchor="t" rtlCol="false" tIns="0" lIns="0" bIns="0" rIns="0">
            <a:spAutoFit/>
          </a:bodyPr>
          <a:lstStyle/>
          <a:p>
            <a:pPr algn="ctr" marL="0" indent="0" lvl="0">
              <a:lnSpc>
                <a:spcPts val="3431"/>
              </a:lnSpc>
              <a:spcBef>
                <a:spcPct val="0"/>
              </a:spcBef>
            </a:pPr>
            <a:r>
              <a:rPr lang="en-US" b="true" sz="2451">
                <a:solidFill>
                  <a:srgbClr val="FFFFFF"/>
                </a:solidFill>
                <a:latin typeface="Montserrat Bold"/>
                <a:ea typeface="Montserrat Bold"/>
                <a:cs typeface="Montserrat Bold"/>
                <a:sym typeface="Montserrat Bold"/>
              </a:rPr>
              <a:t>Roles</a:t>
            </a:r>
          </a:p>
        </p:txBody>
      </p:sp>
      <p:sp>
        <p:nvSpPr>
          <p:cNvPr name="TextBox 19" id="19"/>
          <p:cNvSpPr txBox="true"/>
          <p:nvPr/>
        </p:nvSpPr>
        <p:spPr>
          <a:xfrm rot="0">
            <a:off x="6244335" y="791750"/>
            <a:ext cx="1907082"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Phases</a:t>
            </a:r>
          </a:p>
        </p:txBody>
      </p:sp>
      <p:sp>
        <p:nvSpPr>
          <p:cNvPr name="TextBox 20" id="20"/>
          <p:cNvSpPr txBox="true"/>
          <p:nvPr/>
        </p:nvSpPr>
        <p:spPr>
          <a:xfrm rot="0">
            <a:off x="9276645" y="789537"/>
            <a:ext cx="2274990"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Comparison</a:t>
            </a:r>
          </a:p>
        </p:txBody>
      </p:sp>
      <p:sp>
        <p:nvSpPr>
          <p:cNvPr name="TextBox 21" id="21"/>
          <p:cNvSpPr txBox="true"/>
          <p:nvPr/>
        </p:nvSpPr>
        <p:spPr>
          <a:xfrm rot="0">
            <a:off x="12676862" y="797895"/>
            <a:ext cx="2224975"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Reference</a:t>
            </a:r>
          </a:p>
        </p:txBody>
      </p:sp>
      <p:sp>
        <p:nvSpPr>
          <p:cNvPr name="TextBox 22" id="22"/>
          <p:cNvSpPr txBox="true"/>
          <p:nvPr/>
        </p:nvSpPr>
        <p:spPr>
          <a:xfrm rot="0">
            <a:off x="1465867" y="3829808"/>
            <a:ext cx="16343401" cy="727709"/>
          </a:xfrm>
          <a:prstGeom prst="rect">
            <a:avLst/>
          </a:prstGeom>
        </p:spPr>
        <p:txBody>
          <a:bodyPr anchor="t" rtlCol="false" tIns="0" lIns="0" bIns="0" rIns="0">
            <a:spAutoFit/>
          </a:bodyPr>
          <a:lstStyle/>
          <a:p>
            <a:pPr algn="just">
              <a:lnSpc>
                <a:spcPts val="2940"/>
              </a:lnSpc>
            </a:pPr>
            <a:r>
              <a:rPr lang="en-US" sz="2100">
                <a:solidFill>
                  <a:srgbClr val="FFFFFF"/>
                </a:solidFill>
                <a:latin typeface="Montserrat"/>
                <a:ea typeface="Montserrat"/>
                <a:cs typeface="Montserrat"/>
                <a:sym typeface="Montserrat"/>
              </a:rPr>
              <a:t>The Scrum-Agile framework trademarks three critical roles that stimulate collaboration, flexibility, and ongoing value delivery through them.</a:t>
            </a: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0632">
                <a:alpha val="100000"/>
              </a:srgbClr>
            </a:gs>
            <a:gs pos="100000">
              <a:srgbClr val="000C4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9290699" y="-864714"/>
            <a:ext cx="8997301" cy="12016429"/>
          </a:xfrm>
          <a:custGeom>
            <a:avLst/>
            <a:gdLst/>
            <a:ahLst/>
            <a:cxnLst/>
            <a:rect r="r" b="b" t="t" l="l"/>
            <a:pathLst>
              <a:path h="12016429" w="8997301">
                <a:moveTo>
                  <a:pt x="0" y="0"/>
                </a:moveTo>
                <a:lnTo>
                  <a:pt x="8997301" y="0"/>
                </a:lnTo>
                <a:lnTo>
                  <a:pt x="8997301" y="12016428"/>
                </a:lnTo>
                <a:lnTo>
                  <a:pt x="0" y="12016428"/>
                </a:lnTo>
                <a:lnTo>
                  <a:pt x="0" y="0"/>
                </a:lnTo>
                <a:close/>
              </a:path>
            </a:pathLst>
          </a:custGeom>
          <a:blipFill>
            <a:blip r:embed="rId2">
              <a:alphaModFix amt="46000"/>
            </a:blip>
            <a:stretch>
              <a:fillRect l="0" t="0" r="0" b="0"/>
            </a:stretch>
          </a:blipFill>
        </p:spPr>
      </p:sp>
      <p:sp>
        <p:nvSpPr>
          <p:cNvPr name="Freeform 3" id="3"/>
          <p:cNvSpPr/>
          <p:nvPr/>
        </p:nvSpPr>
        <p:spPr>
          <a:xfrm flipH="false" flipV="false" rot="0">
            <a:off x="34263" y="-1112325"/>
            <a:ext cx="8997301" cy="12016429"/>
          </a:xfrm>
          <a:custGeom>
            <a:avLst/>
            <a:gdLst/>
            <a:ahLst/>
            <a:cxnLst/>
            <a:rect r="r" b="b" t="t" l="l"/>
            <a:pathLst>
              <a:path h="12016429" w="8997301">
                <a:moveTo>
                  <a:pt x="0" y="0"/>
                </a:moveTo>
                <a:lnTo>
                  <a:pt x="8997301" y="0"/>
                </a:lnTo>
                <a:lnTo>
                  <a:pt x="8997301" y="12016429"/>
                </a:lnTo>
                <a:lnTo>
                  <a:pt x="0" y="12016429"/>
                </a:lnTo>
                <a:lnTo>
                  <a:pt x="0" y="0"/>
                </a:lnTo>
                <a:close/>
              </a:path>
            </a:pathLst>
          </a:custGeom>
          <a:blipFill>
            <a:blip r:embed="rId2">
              <a:alphaModFix amt="46000"/>
            </a:blip>
            <a:stretch>
              <a:fillRect l="0" t="0" r="0" b="0"/>
            </a:stretch>
          </a:blipFill>
        </p:spPr>
      </p:sp>
      <p:grpSp>
        <p:nvGrpSpPr>
          <p:cNvPr name="Group 4" id="4"/>
          <p:cNvGrpSpPr/>
          <p:nvPr/>
        </p:nvGrpSpPr>
        <p:grpSpPr>
          <a:xfrm rot="0">
            <a:off x="2854716" y="-585021"/>
            <a:ext cx="13313065" cy="2284102"/>
            <a:chOff x="0" y="0"/>
            <a:chExt cx="3506322" cy="601574"/>
          </a:xfrm>
        </p:grpSpPr>
        <p:sp>
          <p:nvSpPr>
            <p:cNvPr name="Freeform 5" id="5"/>
            <p:cNvSpPr/>
            <p:nvPr/>
          </p:nvSpPr>
          <p:spPr>
            <a:xfrm flipH="false" flipV="false" rot="0">
              <a:off x="0" y="0"/>
              <a:ext cx="3506322" cy="601574"/>
            </a:xfrm>
            <a:custGeom>
              <a:avLst/>
              <a:gdLst/>
              <a:ahLst/>
              <a:cxnLst/>
              <a:rect r="r" b="b" t="t" l="l"/>
              <a:pathLst>
                <a:path h="601574" w="3506322">
                  <a:moveTo>
                    <a:pt x="25587" y="0"/>
                  </a:moveTo>
                  <a:lnTo>
                    <a:pt x="3480734" y="0"/>
                  </a:lnTo>
                  <a:cubicBezTo>
                    <a:pt x="3494866" y="0"/>
                    <a:pt x="3506322" y="11456"/>
                    <a:pt x="3506322" y="25587"/>
                  </a:cubicBezTo>
                  <a:lnTo>
                    <a:pt x="3506322" y="575987"/>
                  </a:lnTo>
                  <a:cubicBezTo>
                    <a:pt x="3506322" y="582773"/>
                    <a:pt x="3503626" y="589281"/>
                    <a:pt x="3498827" y="594080"/>
                  </a:cubicBezTo>
                  <a:cubicBezTo>
                    <a:pt x="3494029" y="598879"/>
                    <a:pt x="3487520" y="601574"/>
                    <a:pt x="3480734" y="601574"/>
                  </a:cubicBezTo>
                  <a:lnTo>
                    <a:pt x="25587" y="601574"/>
                  </a:lnTo>
                  <a:cubicBezTo>
                    <a:pt x="11456" y="601574"/>
                    <a:pt x="0" y="590118"/>
                    <a:pt x="0" y="575987"/>
                  </a:cubicBezTo>
                  <a:lnTo>
                    <a:pt x="0" y="25587"/>
                  </a:lnTo>
                  <a:cubicBezTo>
                    <a:pt x="0" y="18801"/>
                    <a:pt x="2696" y="12293"/>
                    <a:pt x="7494" y="7494"/>
                  </a:cubicBezTo>
                  <a:cubicBezTo>
                    <a:pt x="12293" y="2696"/>
                    <a:pt x="18801" y="0"/>
                    <a:pt x="25587" y="0"/>
                  </a:cubicBez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6" id="6"/>
            <p:cNvSpPr txBox="true"/>
            <p:nvPr/>
          </p:nvSpPr>
          <p:spPr>
            <a:xfrm>
              <a:off x="0" y="-38100"/>
              <a:ext cx="3506322" cy="639674"/>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514350" y="-585021"/>
            <a:ext cx="20051197" cy="1050288"/>
            <a:chOff x="0" y="0"/>
            <a:chExt cx="5280974" cy="276619"/>
          </a:xfrm>
        </p:grpSpPr>
        <p:sp>
          <p:nvSpPr>
            <p:cNvPr name="Freeform 8" id="8"/>
            <p:cNvSpPr/>
            <p:nvPr/>
          </p:nvSpPr>
          <p:spPr>
            <a:xfrm flipH="false" flipV="false" rot="0">
              <a:off x="0" y="0"/>
              <a:ext cx="5280974" cy="276619"/>
            </a:xfrm>
            <a:custGeom>
              <a:avLst/>
              <a:gdLst/>
              <a:ahLst/>
              <a:cxnLst/>
              <a:rect r="r" b="b" t="t" l="l"/>
              <a:pathLst>
                <a:path h="276619" w="5280974">
                  <a:moveTo>
                    <a:pt x="0" y="0"/>
                  </a:moveTo>
                  <a:lnTo>
                    <a:pt x="5280974" y="0"/>
                  </a:lnTo>
                  <a:lnTo>
                    <a:pt x="5280974" y="276619"/>
                  </a:lnTo>
                  <a:lnTo>
                    <a:pt x="0" y="276619"/>
                  </a:ln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9" id="9"/>
            <p:cNvSpPr txBox="true"/>
            <p:nvPr/>
          </p:nvSpPr>
          <p:spPr>
            <a:xfrm>
              <a:off x="0" y="-57150"/>
              <a:ext cx="5280974" cy="333769"/>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5400000">
            <a:off x="7061200" y="-939800"/>
            <a:ext cx="4165600" cy="18288000"/>
          </a:xfrm>
          <a:custGeom>
            <a:avLst/>
            <a:gdLst/>
            <a:ahLst/>
            <a:cxnLst/>
            <a:rect r="r" b="b" t="t" l="l"/>
            <a:pathLst>
              <a:path h="18288000" w="4165600">
                <a:moveTo>
                  <a:pt x="0" y="0"/>
                </a:moveTo>
                <a:lnTo>
                  <a:pt x="4165600" y="0"/>
                </a:lnTo>
                <a:lnTo>
                  <a:pt x="4165600" y="18288000"/>
                </a:lnTo>
                <a:lnTo>
                  <a:pt x="0" y="18288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468941" y="2248320"/>
            <a:ext cx="4775395" cy="470826"/>
          </a:xfrm>
          <a:prstGeom prst="rect">
            <a:avLst/>
          </a:prstGeom>
        </p:spPr>
        <p:txBody>
          <a:bodyPr anchor="t" rtlCol="false" tIns="0" lIns="0" bIns="0" rIns="0">
            <a:spAutoFit/>
          </a:bodyPr>
          <a:lstStyle/>
          <a:p>
            <a:pPr algn="just">
              <a:lnSpc>
                <a:spcPts val="3973"/>
              </a:lnSpc>
              <a:spcBef>
                <a:spcPct val="0"/>
              </a:spcBef>
            </a:pPr>
            <a:r>
              <a:rPr lang="en-US" b="true" sz="2838">
                <a:solidFill>
                  <a:srgbClr val="FFFFFF"/>
                </a:solidFill>
                <a:latin typeface="Montserrat Ultra-Bold"/>
                <a:ea typeface="Montserrat Ultra-Bold"/>
                <a:cs typeface="Montserrat Ultra-Bold"/>
                <a:sym typeface="Montserrat Ultra-Bold"/>
              </a:rPr>
              <a:t>DEVELOPMENT TEAM</a:t>
            </a:r>
          </a:p>
        </p:txBody>
      </p:sp>
      <p:sp>
        <p:nvSpPr>
          <p:cNvPr name="Freeform 12" id="12"/>
          <p:cNvSpPr/>
          <p:nvPr/>
        </p:nvSpPr>
        <p:spPr>
          <a:xfrm flipH="true" flipV="false" rot="0">
            <a:off x="11650949" y="2719147"/>
            <a:ext cx="5696565" cy="5696565"/>
          </a:xfrm>
          <a:custGeom>
            <a:avLst/>
            <a:gdLst/>
            <a:ahLst/>
            <a:cxnLst/>
            <a:rect r="r" b="b" t="t" l="l"/>
            <a:pathLst>
              <a:path h="5696565" w="5696565">
                <a:moveTo>
                  <a:pt x="5696565" y="0"/>
                </a:moveTo>
                <a:lnTo>
                  <a:pt x="0" y="0"/>
                </a:lnTo>
                <a:lnTo>
                  <a:pt x="0" y="5696565"/>
                </a:lnTo>
                <a:lnTo>
                  <a:pt x="5696565" y="5696565"/>
                </a:lnTo>
                <a:lnTo>
                  <a:pt x="569656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1958161" y="2840303"/>
            <a:ext cx="15617522" cy="1099184"/>
          </a:xfrm>
          <a:prstGeom prst="rect">
            <a:avLst/>
          </a:prstGeom>
        </p:spPr>
        <p:txBody>
          <a:bodyPr anchor="t" rtlCol="false" tIns="0" lIns="0" bIns="0" rIns="0">
            <a:spAutoFit/>
          </a:bodyPr>
          <a:lstStyle/>
          <a:p>
            <a:pPr algn="just">
              <a:lnSpc>
                <a:spcPts val="2940"/>
              </a:lnSpc>
            </a:pPr>
            <a:r>
              <a:rPr lang="en-US" sz="2100">
                <a:solidFill>
                  <a:srgbClr val="FFFFFF"/>
                </a:solidFill>
                <a:latin typeface="Montserrat"/>
                <a:ea typeface="Montserrat"/>
                <a:cs typeface="Montserrat"/>
                <a:sym typeface="Montserrat"/>
              </a:rPr>
              <a:t>The developers change user stories into production-ready increments. Contemporary studies indicate that with the help of Scrum, the developers become more adaptive and that iterative work results of good quality (Irfansyah et al., 2025). Throughout the sprints, developers meet every day, elaborate the requirements, and do continuous testing.</a:t>
            </a:r>
          </a:p>
        </p:txBody>
      </p:sp>
      <p:sp>
        <p:nvSpPr>
          <p:cNvPr name="Freeform 14" id="14"/>
          <p:cNvSpPr/>
          <p:nvPr/>
        </p:nvSpPr>
        <p:spPr>
          <a:xfrm flipH="true" flipV="false" rot="0">
            <a:off x="-1022160" y="1028700"/>
            <a:ext cx="2380246" cy="2380246"/>
          </a:xfrm>
          <a:custGeom>
            <a:avLst/>
            <a:gdLst/>
            <a:ahLst/>
            <a:cxnLst/>
            <a:rect r="r" b="b" t="t" l="l"/>
            <a:pathLst>
              <a:path h="2380246" w="2380246">
                <a:moveTo>
                  <a:pt x="2380246" y="0"/>
                </a:moveTo>
                <a:lnTo>
                  <a:pt x="0" y="0"/>
                </a:lnTo>
                <a:lnTo>
                  <a:pt x="0" y="2380246"/>
                </a:lnTo>
                <a:lnTo>
                  <a:pt x="2380246" y="2380246"/>
                </a:lnTo>
                <a:lnTo>
                  <a:pt x="238024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3701639" y="789537"/>
            <a:ext cx="1662550" cy="413986"/>
          </a:xfrm>
          <a:prstGeom prst="rect">
            <a:avLst/>
          </a:prstGeom>
        </p:spPr>
        <p:txBody>
          <a:bodyPr anchor="t" rtlCol="false" tIns="0" lIns="0" bIns="0" rIns="0">
            <a:spAutoFit/>
          </a:bodyPr>
          <a:lstStyle/>
          <a:p>
            <a:pPr algn="ctr" marL="0" indent="0" lvl="0">
              <a:lnSpc>
                <a:spcPts val="3431"/>
              </a:lnSpc>
              <a:spcBef>
                <a:spcPct val="0"/>
              </a:spcBef>
            </a:pPr>
            <a:r>
              <a:rPr lang="en-US" b="true" sz="2451">
                <a:solidFill>
                  <a:srgbClr val="FFFFFF"/>
                </a:solidFill>
                <a:latin typeface="Montserrat Bold"/>
                <a:ea typeface="Montserrat Bold"/>
                <a:cs typeface="Montserrat Bold"/>
                <a:sym typeface="Montserrat Bold"/>
              </a:rPr>
              <a:t>Roles</a:t>
            </a:r>
          </a:p>
        </p:txBody>
      </p:sp>
      <p:sp>
        <p:nvSpPr>
          <p:cNvPr name="TextBox 16" id="16"/>
          <p:cNvSpPr txBox="true"/>
          <p:nvPr/>
        </p:nvSpPr>
        <p:spPr>
          <a:xfrm rot="0">
            <a:off x="6244335" y="791750"/>
            <a:ext cx="1907082"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Phases</a:t>
            </a:r>
          </a:p>
        </p:txBody>
      </p:sp>
      <p:sp>
        <p:nvSpPr>
          <p:cNvPr name="TextBox 17" id="17"/>
          <p:cNvSpPr txBox="true"/>
          <p:nvPr/>
        </p:nvSpPr>
        <p:spPr>
          <a:xfrm rot="0">
            <a:off x="9276645" y="789537"/>
            <a:ext cx="2274990"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Comparison</a:t>
            </a:r>
          </a:p>
        </p:txBody>
      </p:sp>
      <p:sp>
        <p:nvSpPr>
          <p:cNvPr name="TextBox 18" id="18"/>
          <p:cNvSpPr txBox="true"/>
          <p:nvPr/>
        </p:nvSpPr>
        <p:spPr>
          <a:xfrm rot="0">
            <a:off x="12676862" y="797895"/>
            <a:ext cx="2224975"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Reference</a:t>
            </a:r>
          </a:p>
        </p:txBody>
      </p:sp>
    </p:spTree>
  </p:cSld>
  <p:clrMapOvr>
    <a:masterClrMapping/>
  </p:clrMapOvr>
  <p:transition spd="fast">
    <p:push dir="u"/>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0632">
                <a:alpha val="100000"/>
              </a:srgbClr>
            </a:gs>
            <a:gs pos="100000">
              <a:srgbClr val="000C4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9290699" y="-864714"/>
            <a:ext cx="8997301" cy="12016429"/>
          </a:xfrm>
          <a:custGeom>
            <a:avLst/>
            <a:gdLst/>
            <a:ahLst/>
            <a:cxnLst/>
            <a:rect r="r" b="b" t="t" l="l"/>
            <a:pathLst>
              <a:path h="12016429" w="8997301">
                <a:moveTo>
                  <a:pt x="0" y="0"/>
                </a:moveTo>
                <a:lnTo>
                  <a:pt x="8997301" y="0"/>
                </a:lnTo>
                <a:lnTo>
                  <a:pt x="8997301" y="12016428"/>
                </a:lnTo>
                <a:lnTo>
                  <a:pt x="0" y="12016428"/>
                </a:lnTo>
                <a:lnTo>
                  <a:pt x="0" y="0"/>
                </a:lnTo>
                <a:close/>
              </a:path>
            </a:pathLst>
          </a:custGeom>
          <a:blipFill>
            <a:blip r:embed="rId2">
              <a:alphaModFix amt="46000"/>
            </a:blip>
            <a:stretch>
              <a:fillRect l="0" t="0" r="0" b="0"/>
            </a:stretch>
          </a:blipFill>
        </p:spPr>
      </p:sp>
      <p:sp>
        <p:nvSpPr>
          <p:cNvPr name="Freeform 3" id="3"/>
          <p:cNvSpPr/>
          <p:nvPr/>
        </p:nvSpPr>
        <p:spPr>
          <a:xfrm flipH="false" flipV="false" rot="0">
            <a:off x="34263" y="-864714"/>
            <a:ext cx="8997301" cy="12016429"/>
          </a:xfrm>
          <a:custGeom>
            <a:avLst/>
            <a:gdLst/>
            <a:ahLst/>
            <a:cxnLst/>
            <a:rect r="r" b="b" t="t" l="l"/>
            <a:pathLst>
              <a:path h="12016429" w="8997301">
                <a:moveTo>
                  <a:pt x="0" y="0"/>
                </a:moveTo>
                <a:lnTo>
                  <a:pt x="8997301" y="0"/>
                </a:lnTo>
                <a:lnTo>
                  <a:pt x="8997301" y="12016428"/>
                </a:lnTo>
                <a:lnTo>
                  <a:pt x="0" y="12016428"/>
                </a:lnTo>
                <a:lnTo>
                  <a:pt x="0" y="0"/>
                </a:lnTo>
                <a:close/>
              </a:path>
            </a:pathLst>
          </a:custGeom>
          <a:blipFill>
            <a:blip r:embed="rId2">
              <a:alphaModFix amt="46000"/>
            </a:blip>
            <a:stretch>
              <a:fillRect l="0" t="0" r="0" b="0"/>
            </a:stretch>
          </a:blipFill>
        </p:spPr>
      </p:sp>
      <p:grpSp>
        <p:nvGrpSpPr>
          <p:cNvPr name="Group 4" id="4"/>
          <p:cNvGrpSpPr/>
          <p:nvPr/>
        </p:nvGrpSpPr>
        <p:grpSpPr>
          <a:xfrm rot="0">
            <a:off x="2854716" y="-585021"/>
            <a:ext cx="13313065" cy="2284102"/>
            <a:chOff x="0" y="0"/>
            <a:chExt cx="3506322" cy="601574"/>
          </a:xfrm>
        </p:grpSpPr>
        <p:sp>
          <p:nvSpPr>
            <p:cNvPr name="Freeform 5" id="5"/>
            <p:cNvSpPr/>
            <p:nvPr/>
          </p:nvSpPr>
          <p:spPr>
            <a:xfrm flipH="false" flipV="false" rot="0">
              <a:off x="0" y="0"/>
              <a:ext cx="3506322" cy="601574"/>
            </a:xfrm>
            <a:custGeom>
              <a:avLst/>
              <a:gdLst/>
              <a:ahLst/>
              <a:cxnLst/>
              <a:rect r="r" b="b" t="t" l="l"/>
              <a:pathLst>
                <a:path h="601574" w="3506322">
                  <a:moveTo>
                    <a:pt x="25587" y="0"/>
                  </a:moveTo>
                  <a:lnTo>
                    <a:pt x="3480734" y="0"/>
                  </a:lnTo>
                  <a:cubicBezTo>
                    <a:pt x="3494866" y="0"/>
                    <a:pt x="3506322" y="11456"/>
                    <a:pt x="3506322" y="25587"/>
                  </a:cubicBezTo>
                  <a:lnTo>
                    <a:pt x="3506322" y="575987"/>
                  </a:lnTo>
                  <a:cubicBezTo>
                    <a:pt x="3506322" y="582773"/>
                    <a:pt x="3503626" y="589281"/>
                    <a:pt x="3498827" y="594080"/>
                  </a:cubicBezTo>
                  <a:cubicBezTo>
                    <a:pt x="3494029" y="598879"/>
                    <a:pt x="3487520" y="601574"/>
                    <a:pt x="3480734" y="601574"/>
                  </a:cubicBezTo>
                  <a:lnTo>
                    <a:pt x="25587" y="601574"/>
                  </a:lnTo>
                  <a:cubicBezTo>
                    <a:pt x="11456" y="601574"/>
                    <a:pt x="0" y="590118"/>
                    <a:pt x="0" y="575987"/>
                  </a:cubicBezTo>
                  <a:lnTo>
                    <a:pt x="0" y="25587"/>
                  </a:lnTo>
                  <a:cubicBezTo>
                    <a:pt x="0" y="18801"/>
                    <a:pt x="2696" y="12293"/>
                    <a:pt x="7494" y="7494"/>
                  </a:cubicBezTo>
                  <a:cubicBezTo>
                    <a:pt x="12293" y="2696"/>
                    <a:pt x="18801" y="0"/>
                    <a:pt x="25587" y="0"/>
                  </a:cubicBez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6" id="6"/>
            <p:cNvSpPr txBox="true"/>
            <p:nvPr/>
          </p:nvSpPr>
          <p:spPr>
            <a:xfrm>
              <a:off x="0" y="-38100"/>
              <a:ext cx="3506322" cy="639674"/>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3701639" y="789537"/>
            <a:ext cx="1662550"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Roles</a:t>
            </a:r>
          </a:p>
        </p:txBody>
      </p:sp>
      <p:sp>
        <p:nvSpPr>
          <p:cNvPr name="TextBox 8" id="8"/>
          <p:cNvSpPr txBox="true"/>
          <p:nvPr/>
        </p:nvSpPr>
        <p:spPr>
          <a:xfrm rot="0">
            <a:off x="6244335" y="791750"/>
            <a:ext cx="1907082" cy="413986"/>
          </a:xfrm>
          <a:prstGeom prst="rect">
            <a:avLst/>
          </a:prstGeom>
        </p:spPr>
        <p:txBody>
          <a:bodyPr anchor="t" rtlCol="false" tIns="0" lIns="0" bIns="0" rIns="0">
            <a:spAutoFit/>
          </a:bodyPr>
          <a:lstStyle/>
          <a:p>
            <a:pPr algn="ctr" marL="0" indent="0" lvl="0">
              <a:lnSpc>
                <a:spcPts val="3431"/>
              </a:lnSpc>
              <a:spcBef>
                <a:spcPct val="0"/>
              </a:spcBef>
            </a:pPr>
            <a:r>
              <a:rPr lang="en-US" b="true" sz="2451">
                <a:solidFill>
                  <a:srgbClr val="FFFFFF"/>
                </a:solidFill>
                <a:latin typeface="Montserrat Bold"/>
                <a:ea typeface="Montserrat Bold"/>
                <a:cs typeface="Montserrat Bold"/>
                <a:sym typeface="Montserrat Bold"/>
              </a:rPr>
              <a:t>Phases</a:t>
            </a:r>
          </a:p>
        </p:txBody>
      </p:sp>
      <p:sp>
        <p:nvSpPr>
          <p:cNvPr name="TextBox 9" id="9"/>
          <p:cNvSpPr txBox="true"/>
          <p:nvPr/>
        </p:nvSpPr>
        <p:spPr>
          <a:xfrm rot="0">
            <a:off x="9276645" y="789537"/>
            <a:ext cx="2274990"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Comparison</a:t>
            </a:r>
          </a:p>
        </p:txBody>
      </p:sp>
      <p:sp>
        <p:nvSpPr>
          <p:cNvPr name="TextBox 10" id="10"/>
          <p:cNvSpPr txBox="true"/>
          <p:nvPr/>
        </p:nvSpPr>
        <p:spPr>
          <a:xfrm rot="0">
            <a:off x="12676862" y="797895"/>
            <a:ext cx="2224975"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Reference</a:t>
            </a:r>
          </a:p>
        </p:txBody>
      </p:sp>
      <p:grpSp>
        <p:nvGrpSpPr>
          <p:cNvPr name="Group 11" id="11"/>
          <p:cNvGrpSpPr/>
          <p:nvPr/>
        </p:nvGrpSpPr>
        <p:grpSpPr>
          <a:xfrm rot="0">
            <a:off x="-514350" y="-585021"/>
            <a:ext cx="20051197" cy="1050288"/>
            <a:chOff x="0" y="0"/>
            <a:chExt cx="5280974" cy="276619"/>
          </a:xfrm>
        </p:grpSpPr>
        <p:sp>
          <p:nvSpPr>
            <p:cNvPr name="Freeform 12" id="12"/>
            <p:cNvSpPr/>
            <p:nvPr/>
          </p:nvSpPr>
          <p:spPr>
            <a:xfrm flipH="false" flipV="false" rot="0">
              <a:off x="0" y="0"/>
              <a:ext cx="5280974" cy="276619"/>
            </a:xfrm>
            <a:custGeom>
              <a:avLst/>
              <a:gdLst/>
              <a:ahLst/>
              <a:cxnLst/>
              <a:rect r="r" b="b" t="t" l="l"/>
              <a:pathLst>
                <a:path h="276619" w="5280974">
                  <a:moveTo>
                    <a:pt x="0" y="0"/>
                  </a:moveTo>
                  <a:lnTo>
                    <a:pt x="5280974" y="0"/>
                  </a:lnTo>
                  <a:lnTo>
                    <a:pt x="5280974" y="276619"/>
                  </a:lnTo>
                  <a:lnTo>
                    <a:pt x="0" y="276619"/>
                  </a:ln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13" id="13"/>
            <p:cNvSpPr txBox="true"/>
            <p:nvPr/>
          </p:nvSpPr>
          <p:spPr>
            <a:xfrm>
              <a:off x="0" y="-57150"/>
              <a:ext cx="5280974" cy="333769"/>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5400000">
            <a:off x="7061200" y="-939800"/>
            <a:ext cx="4165600" cy="18288000"/>
          </a:xfrm>
          <a:custGeom>
            <a:avLst/>
            <a:gdLst/>
            <a:ahLst/>
            <a:cxnLst/>
            <a:rect r="r" b="b" t="t" l="l"/>
            <a:pathLst>
              <a:path h="18288000" w="4165600">
                <a:moveTo>
                  <a:pt x="0" y="0"/>
                </a:moveTo>
                <a:lnTo>
                  <a:pt x="4165600" y="0"/>
                </a:lnTo>
                <a:lnTo>
                  <a:pt x="4165600" y="18288000"/>
                </a:lnTo>
                <a:lnTo>
                  <a:pt x="0" y="18288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799910" y="2004271"/>
            <a:ext cx="5643483" cy="1782576"/>
          </a:xfrm>
          <a:prstGeom prst="rect">
            <a:avLst/>
          </a:prstGeom>
        </p:spPr>
        <p:txBody>
          <a:bodyPr anchor="t" rtlCol="false" tIns="0" lIns="0" bIns="0" rIns="0">
            <a:spAutoFit/>
          </a:bodyPr>
          <a:lstStyle/>
          <a:p>
            <a:pPr algn="l">
              <a:lnSpc>
                <a:spcPts val="13714"/>
              </a:lnSpc>
            </a:pPr>
            <a:r>
              <a:rPr lang="en-US" sz="12817" b="true">
                <a:solidFill>
                  <a:srgbClr val="FFFFFF"/>
                </a:solidFill>
                <a:latin typeface="Museo Moderno Bold"/>
                <a:ea typeface="Museo Moderno Bold"/>
                <a:cs typeface="Museo Moderno Bold"/>
                <a:sym typeface="Museo Moderno Bold"/>
              </a:rPr>
              <a:t>Agile </a:t>
            </a:r>
          </a:p>
        </p:txBody>
      </p:sp>
      <p:sp>
        <p:nvSpPr>
          <p:cNvPr name="TextBox 16" id="16"/>
          <p:cNvSpPr txBox="true"/>
          <p:nvPr/>
        </p:nvSpPr>
        <p:spPr>
          <a:xfrm rot="0">
            <a:off x="722929" y="3903502"/>
            <a:ext cx="8045381" cy="2682924"/>
          </a:xfrm>
          <a:prstGeom prst="rect">
            <a:avLst/>
          </a:prstGeom>
        </p:spPr>
        <p:txBody>
          <a:bodyPr anchor="t" rtlCol="false" tIns="0" lIns="0" bIns="0" rIns="0">
            <a:spAutoFit/>
          </a:bodyPr>
          <a:lstStyle/>
          <a:p>
            <a:pPr algn="l">
              <a:lnSpc>
                <a:spcPts val="6868"/>
              </a:lnSpc>
            </a:pPr>
            <a:r>
              <a:rPr lang="en-US" sz="6419">
                <a:solidFill>
                  <a:srgbClr val="FFFFFF"/>
                </a:solidFill>
                <a:latin typeface="Museo Moderno"/>
                <a:ea typeface="Museo Moderno"/>
                <a:cs typeface="Museo Moderno"/>
                <a:sym typeface="Museo Moderno"/>
              </a:rPr>
              <a:t>Phases in the SDLC</a:t>
            </a:r>
          </a:p>
          <a:p>
            <a:pPr algn="l">
              <a:lnSpc>
                <a:spcPts val="13714"/>
              </a:lnSpc>
            </a:pPr>
          </a:p>
        </p:txBody>
      </p:sp>
      <p:sp>
        <p:nvSpPr>
          <p:cNvPr name="TextBox 17" id="17"/>
          <p:cNvSpPr txBox="true"/>
          <p:nvPr/>
        </p:nvSpPr>
        <p:spPr>
          <a:xfrm rot="0">
            <a:off x="8613288" y="1972624"/>
            <a:ext cx="6075322" cy="414311"/>
          </a:xfrm>
          <a:prstGeom prst="rect">
            <a:avLst/>
          </a:prstGeom>
        </p:spPr>
        <p:txBody>
          <a:bodyPr anchor="t" rtlCol="false" tIns="0" lIns="0" bIns="0" rIns="0">
            <a:spAutoFit/>
          </a:bodyPr>
          <a:lstStyle/>
          <a:p>
            <a:pPr algn="just">
              <a:lnSpc>
                <a:spcPts val="3413"/>
              </a:lnSpc>
              <a:spcBef>
                <a:spcPct val="0"/>
              </a:spcBef>
            </a:pPr>
            <a:r>
              <a:rPr lang="en-US" b="true" sz="2438">
                <a:solidFill>
                  <a:srgbClr val="FFFFFF"/>
                </a:solidFill>
                <a:latin typeface="Montserrat Ultra-Bold"/>
                <a:ea typeface="Montserrat Ultra-Bold"/>
                <a:cs typeface="Montserrat Ultra-Bold"/>
                <a:sym typeface="Montserrat Ultra-Bold"/>
              </a:rPr>
              <a:t>DESIGN AND DEVELOPMENT</a:t>
            </a:r>
          </a:p>
        </p:txBody>
      </p:sp>
      <p:sp>
        <p:nvSpPr>
          <p:cNvPr name="TextBox 18" id="18"/>
          <p:cNvSpPr txBox="true"/>
          <p:nvPr/>
        </p:nvSpPr>
        <p:spPr>
          <a:xfrm rot="0">
            <a:off x="8517942" y="4129577"/>
            <a:ext cx="6075322" cy="414311"/>
          </a:xfrm>
          <a:prstGeom prst="rect">
            <a:avLst/>
          </a:prstGeom>
        </p:spPr>
        <p:txBody>
          <a:bodyPr anchor="t" rtlCol="false" tIns="0" lIns="0" bIns="0" rIns="0">
            <a:spAutoFit/>
          </a:bodyPr>
          <a:lstStyle/>
          <a:p>
            <a:pPr algn="just">
              <a:lnSpc>
                <a:spcPts val="3413"/>
              </a:lnSpc>
              <a:spcBef>
                <a:spcPct val="0"/>
              </a:spcBef>
            </a:pPr>
            <a:r>
              <a:rPr lang="en-US" b="true" sz="2438">
                <a:solidFill>
                  <a:srgbClr val="FFFFFF"/>
                </a:solidFill>
                <a:latin typeface="Montserrat Ultra-Bold"/>
                <a:ea typeface="Montserrat Ultra-Bold"/>
                <a:cs typeface="Montserrat Ultra-Bold"/>
                <a:sym typeface="Montserrat Ultra-Bold"/>
              </a:rPr>
              <a:t>TESTING AND FEEDBCK</a:t>
            </a:r>
          </a:p>
        </p:txBody>
      </p:sp>
      <p:sp>
        <p:nvSpPr>
          <p:cNvPr name="TextBox 19" id="19"/>
          <p:cNvSpPr txBox="true"/>
          <p:nvPr/>
        </p:nvSpPr>
        <p:spPr>
          <a:xfrm rot="0">
            <a:off x="722929" y="5618975"/>
            <a:ext cx="6911695" cy="1470659"/>
          </a:xfrm>
          <a:prstGeom prst="rect">
            <a:avLst/>
          </a:prstGeom>
        </p:spPr>
        <p:txBody>
          <a:bodyPr anchor="t" rtlCol="false" tIns="0" lIns="0" bIns="0" rIns="0">
            <a:spAutoFit/>
          </a:bodyPr>
          <a:lstStyle/>
          <a:p>
            <a:pPr algn="just">
              <a:lnSpc>
                <a:spcPts val="2940"/>
              </a:lnSpc>
            </a:pPr>
            <a:r>
              <a:rPr lang="en-US" sz="2100">
                <a:solidFill>
                  <a:srgbClr val="FFFFFF"/>
                </a:solidFill>
                <a:latin typeface="Montserrat"/>
                <a:ea typeface="Montserrat"/>
                <a:cs typeface="Montserrat"/>
                <a:sym typeface="Montserrat"/>
              </a:rPr>
              <a:t>Instead of getting all the requirements at once, Agile covers the development of newly imagined project requirements through user stories, backlog refinement, and direct stakeholder engagement.</a:t>
            </a:r>
          </a:p>
        </p:txBody>
      </p:sp>
      <p:sp>
        <p:nvSpPr>
          <p:cNvPr name="TextBox 20" id="20"/>
          <p:cNvSpPr txBox="true"/>
          <p:nvPr/>
        </p:nvSpPr>
        <p:spPr>
          <a:xfrm rot="0">
            <a:off x="8517942" y="4639138"/>
            <a:ext cx="8490990" cy="1470659"/>
          </a:xfrm>
          <a:prstGeom prst="rect">
            <a:avLst/>
          </a:prstGeom>
        </p:spPr>
        <p:txBody>
          <a:bodyPr anchor="t" rtlCol="false" tIns="0" lIns="0" bIns="0" rIns="0">
            <a:spAutoFit/>
          </a:bodyPr>
          <a:lstStyle/>
          <a:p>
            <a:pPr algn="just">
              <a:lnSpc>
                <a:spcPts val="2940"/>
              </a:lnSpc>
            </a:pPr>
            <a:r>
              <a:rPr lang="en-US" sz="2100">
                <a:solidFill>
                  <a:srgbClr val="FFFFFF"/>
                </a:solidFill>
                <a:latin typeface="Montserrat"/>
                <a:ea typeface="Montserrat"/>
                <a:cs typeface="Montserrat"/>
                <a:sym typeface="Montserrat"/>
              </a:rPr>
              <a:t>Testing is done in a continuous manner as opposed to waiting until the project is final. Developers and testers work together all through the sprints, which makes it possible to quickly detect and rectify any problems.</a:t>
            </a:r>
          </a:p>
        </p:txBody>
      </p:sp>
      <p:sp>
        <p:nvSpPr>
          <p:cNvPr name="Freeform 21" id="21"/>
          <p:cNvSpPr/>
          <p:nvPr/>
        </p:nvSpPr>
        <p:spPr>
          <a:xfrm flipH="false" flipV="false" rot="0">
            <a:off x="-1028700" y="1699081"/>
            <a:ext cx="3657219" cy="3657219"/>
          </a:xfrm>
          <a:custGeom>
            <a:avLst/>
            <a:gdLst/>
            <a:ahLst/>
            <a:cxnLst/>
            <a:rect r="r" b="b" t="t" l="l"/>
            <a:pathLst>
              <a:path h="3657219" w="3657219">
                <a:moveTo>
                  <a:pt x="0" y="0"/>
                </a:moveTo>
                <a:lnTo>
                  <a:pt x="3657219" y="0"/>
                </a:lnTo>
                <a:lnTo>
                  <a:pt x="3657219" y="3657219"/>
                </a:lnTo>
                <a:lnTo>
                  <a:pt x="0" y="36572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2" id="22"/>
          <p:cNvSpPr txBox="true"/>
          <p:nvPr/>
        </p:nvSpPr>
        <p:spPr>
          <a:xfrm rot="0">
            <a:off x="722929" y="5105541"/>
            <a:ext cx="6075322" cy="414311"/>
          </a:xfrm>
          <a:prstGeom prst="rect">
            <a:avLst/>
          </a:prstGeom>
        </p:spPr>
        <p:txBody>
          <a:bodyPr anchor="t" rtlCol="false" tIns="0" lIns="0" bIns="0" rIns="0">
            <a:spAutoFit/>
          </a:bodyPr>
          <a:lstStyle/>
          <a:p>
            <a:pPr algn="just">
              <a:lnSpc>
                <a:spcPts val="3413"/>
              </a:lnSpc>
              <a:spcBef>
                <a:spcPct val="0"/>
              </a:spcBef>
            </a:pPr>
            <a:r>
              <a:rPr lang="en-US" b="true" sz="2438">
                <a:solidFill>
                  <a:srgbClr val="FFFFFF"/>
                </a:solidFill>
                <a:latin typeface="Montserrat Ultra-Bold"/>
                <a:ea typeface="Montserrat Ultra-Bold"/>
                <a:cs typeface="Montserrat Ultra-Bold"/>
                <a:sym typeface="Montserrat Ultra-Bold"/>
              </a:rPr>
              <a:t>REQUIREMENTS PHASE</a:t>
            </a:r>
          </a:p>
        </p:txBody>
      </p:sp>
      <p:sp>
        <p:nvSpPr>
          <p:cNvPr name="Freeform 23" id="23"/>
          <p:cNvSpPr/>
          <p:nvPr/>
        </p:nvSpPr>
        <p:spPr>
          <a:xfrm flipH="false" flipV="false" rot="0">
            <a:off x="16459390" y="4173111"/>
            <a:ext cx="3657219" cy="3657219"/>
          </a:xfrm>
          <a:custGeom>
            <a:avLst/>
            <a:gdLst/>
            <a:ahLst/>
            <a:cxnLst/>
            <a:rect r="r" b="b" t="t" l="l"/>
            <a:pathLst>
              <a:path h="3657219" w="3657219">
                <a:moveTo>
                  <a:pt x="0" y="0"/>
                </a:moveTo>
                <a:lnTo>
                  <a:pt x="3657220" y="0"/>
                </a:lnTo>
                <a:lnTo>
                  <a:pt x="3657220" y="3657219"/>
                </a:lnTo>
                <a:lnTo>
                  <a:pt x="0" y="36572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4" id="24"/>
          <p:cNvSpPr txBox="true"/>
          <p:nvPr/>
        </p:nvSpPr>
        <p:spPr>
          <a:xfrm rot="0">
            <a:off x="8613288" y="2381284"/>
            <a:ext cx="9500349" cy="1470659"/>
          </a:xfrm>
          <a:prstGeom prst="rect">
            <a:avLst/>
          </a:prstGeom>
        </p:spPr>
        <p:txBody>
          <a:bodyPr anchor="t" rtlCol="false" tIns="0" lIns="0" bIns="0" rIns="0">
            <a:spAutoFit/>
          </a:bodyPr>
          <a:lstStyle/>
          <a:p>
            <a:pPr algn="just">
              <a:lnSpc>
                <a:spcPts val="2940"/>
              </a:lnSpc>
            </a:pPr>
            <a:r>
              <a:rPr lang="en-US" sz="2100">
                <a:solidFill>
                  <a:srgbClr val="FFFFFF"/>
                </a:solidFill>
                <a:latin typeface="Montserrat"/>
                <a:ea typeface="Montserrat"/>
                <a:cs typeface="Montserrat"/>
                <a:sym typeface="Montserrat"/>
              </a:rPr>
              <a:t>In small bites increments, Agile executes software creation. Each sprint includes planning, designing, coding, and testing a set of user stories. Evidence suggests that iterative development improves learning, creativity, and problem-solving skills (da Silva Devincenzi et al., 2022).</a:t>
            </a:r>
          </a:p>
        </p:txBody>
      </p:sp>
      <p:sp>
        <p:nvSpPr>
          <p:cNvPr name="TextBox 25" id="25"/>
          <p:cNvSpPr txBox="true"/>
          <p:nvPr/>
        </p:nvSpPr>
        <p:spPr>
          <a:xfrm rot="0">
            <a:off x="8517942" y="6538801"/>
            <a:ext cx="6075322" cy="414311"/>
          </a:xfrm>
          <a:prstGeom prst="rect">
            <a:avLst/>
          </a:prstGeom>
        </p:spPr>
        <p:txBody>
          <a:bodyPr anchor="t" rtlCol="false" tIns="0" lIns="0" bIns="0" rIns="0">
            <a:spAutoFit/>
          </a:bodyPr>
          <a:lstStyle/>
          <a:p>
            <a:pPr algn="just">
              <a:lnSpc>
                <a:spcPts val="3413"/>
              </a:lnSpc>
              <a:spcBef>
                <a:spcPct val="0"/>
              </a:spcBef>
            </a:pPr>
            <a:r>
              <a:rPr lang="en-US" b="true" sz="2438">
                <a:solidFill>
                  <a:srgbClr val="FFFFFF"/>
                </a:solidFill>
                <a:latin typeface="Montserrat Ultra-Bold"/>
                <a:ea typeface="Montserrat Ultra-Bold"/>
                <a:cs typeface="Montserrat Ultra-Bold"/>
                <a:sym typeface="Montserrat Ultra-Bold"/>
              </a:rPr>
              <a:t>DEPLOYMENT AND REVIEW</a:t>
            </a:r>
          </a:p>
        </p:txBody>
      </p:sp>
      <p:sp>
        <p:nvSpPr>
          <p:cNvPr name="TextBox 26" id="26"/>
          <p:cNvSpPr txBox="true"/>
          <p:nvPr/>
        </p:nvSpPr>
        <p:spPr>
          <a:xfrm rot="0">
            <a:off x="8517942" y="7048362"/>
            <a:ext cx="8490990" cy="1099184"/>
          </a:xfrm>
          <a:prstGeom prst="rect">
            <a:avLst/>
          </a:prstGeom>
        </p:spPr>
        <p:txBody>
          <a:bodyPr anchor="t" rtlCol="false" tIns="0" lIns="0" bIns="0" rIns="0">
            <a:spAutoFit/>
          </a:bodyPr>
          <a:lstStyle/>
          <a:p>
            <a:pPr algn="just">
              <a:lnSpc>
                <a:spcPts val="2940"/>
              </a:lnSpc>
            </a:pPr>
            <a:r>
              <a:rPr lang="en-US" sz="2100">
                <a:solidFill>
                  <a:srgbClr val="FFFFFF"/>
                </a:solidFill>
                <a:latin typeface="Montserrat"/>
                <a:ea typeface="Montserrat"/>
                <a:cs typeface="Montserrat"/>
                <a:sym typeface="Montserrat"/>
              </a:rPr>
              <a:t>The team meets at the end of each sprint for a Sprint Review during which they demonstrate their completed work, gather feedback, and reconfigure the Product Backlog as necessary.</a:t>
            </a:r>
          </a:p>
        </p:txBody>
      </p:sp>
    </p:spTree>
  </p:cSld>
  <p:clrMapOvr>
    <a:masterClrMapping/>
  </p:clrMapOvr>
  <p:transition spd="slow">
    <p:push dir="d"/>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0632">
                <a:alpha val="100000"/>
              </a:srgbClr>
            </a:gs>
            <a:gs pos="100000">
              <a:srgbClr val="000C4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9290699" y="-864714"/>
            <a:ext cx="8997301" cy="12016429"/>
          </a:xfrm>
          <a:custGeom>
            <a:avLst/>
            <a:gdLst/>
            <a:ahLst/>
            <a:cxnLst/>
            <a:rect r="r" b="b" t="t" l="l"/>
            <a:pathLst>
              <a:path h="12016429" w="8997301">
                <a:moveTo>
                  <a:pt x="0" y="0"/>
                </a:moveTo>
                <a:lnTo>
                  <a:pt x="8997301" y="0"/>
                </a:lnTo>
                <a:lnTo>
                  <a:pt x="8997301" y="12016428"/>
                </a:lnTo>
                <a:lnTo>
                  <a:pt x="0" y="12016428"/>
                </a:lnTo>
                <a:lnTo>
                  <a:pt x="0" y="0"/>
                </a:lnTo>
                <a:close/>
              </a:path>
            </a:pathLst>
          </a:custGeom>
          <a:blipFill>
            <a:blip r:embed="rId2">
              <a:alphaModFix amt="46000"/>
            </a:blip>
            <a:stretch>
              <a:fillRect l="0" t="0" r="0" b="0"/>
            </a:stretch>
          </a:blipFill>
        </p:spPr>
      </p:sp>
      <p:sp>
        <p:nvSpPr>
          <p:cNvPr name="Freeform 3" id="3"/>
          <p:cNvSpPr/>
          <p:nvPr/>
        </p:nvSpPr>
        <p:spPr>
          <a:xfrm flipH="false" flipV="false" rot="0">
            <a:off x="34263" y="-864714"/>
            <a:ext cx="8997301" cy="12016429"/>
          </a:xfrm>
          <a:custGeom>
            <a:avLst/>
            <a:gdLst/>
            <a:ahLst/>
            <a:cxnLst/>
            <a:rect r="r" b="b" t="t" l="l"/>
            <a:pathLst>
              <a:path h="12016429" w="8997301">
                <a:moveTo>
                  <a:pt x="0" y="0"/>
                </a:moveTo>
                <a:lnTo>
                  <a:pt x="8997301" y="0"/>
                </a:lnTo>
                <a:lnTo>
                  <a:pt x="8997301" y="12016428"/>
                </a:lnTo>
                <a:lnTo>
                  <a:pt x="0" y="12016428"/>
                </a:lnTo>
                <a:lnTo>
                  <a:pt x="0" y="0"/>
                </a:lnTo>
                <a:close/>
              </a:path>
            </a:pathLst>
          </a:custGeom>
          <a:blipFill>
            <a:blip r:embed="rId2">
              <a:alphaModFix amt="46000"/>
            </a:blip>
            <a:stretch>
              <a:fillRect l="0" t="0" r="0" b="0"/>
            </a:stretch>
          </a:blipFill>
        </p:spPr>
      </p:sp>
      <p:grpSp>
        <p:nvGrpSpPr>
          <p:cNvPr name="Group 4" id="4"/>
          <p:cNvGrpSpPr/>
          <p:nvPr/>
        </p:nvGrpSpPr>
        <p:grpSpPr>
          <a:xfrm rot="0">
            <a:off x="2854716" y="-585021"/>
            <a:ext cx="13313065" cy="2284102"/>
            <a:chOff x="0" y="0"/>
            <a:chExt cx="3506322" cy="601574"/>
          </a:xfrm>
        </p:grpSpPr>
        <p:sp>
          <p:nvSpPr>
            <p:cNvPr name="Freeform 5" id="5"/>
            <p:cNvSpPr/>
            <p:nvPr/>
          </p:nvSpPr>
          <p:spPr>
            <a:xfrm flipH="false" flipV="false" rot="0">
              <a:off x="0" y="0"/>
              <a:ext cx="3506322" cy="601574"/>
            </a:xfrm>
            <a:custGeom>
              <a:avLst/>
              <a:gdLst/>
              <a:ahLst/>
              <a:cxnLst/>
              <a:rect r="r" b="b" t="t" l="l"/>
              <a:pathLst>
                <a:path h="601574" w="3506322">
                  <a:moveTo>
                    <a:pt x="25587" y="0"/>
                  </a:moveTo>
                  <a:lnTo>
                    <a:pt x="3480734" y="0"/>
                  </a:lnTo>
                  <a:cubicBezTo>
                    <a:pt x="3494866" y="0"/>
                    <a:pt x="3506322" y="11456"/>
                    <a:pt x="3506322" y="25587"/>
                  </a:cubicBezTo>
                  <a:lnTo>
                    <a:pt x="3506322" y="575987"/>
                  </a:lnTo>
                  <a:cubicBezTo>
                    <a:pt x="3506322" y="582773"/>
                    <a:pt x="3503626" y="589281"/>
                    <a:pt x="3498827" y="594080"/>
                  </a:cubicBezTo>
                  <a:cubicBezTo>
                    <a:pt x="3494029" y="598879"/>
                    <a:pt x="3487520" y="601574"/>
                    <a:pt x="3480734" y="601574"/>
                  </a:cubicBezTo>
                  <a:lnTo>
                    <a:pt x="25587" y="601574"/>
                  </a:lnTo>
                  <a:cubicBezTo>
                    <a:pt x="11456" y="601574"/>
                    <a:pt x="0" y="590118"/>
                    <a:pt x="0" y="575987"/>
                  </a:cubicBezTo>
                  <a:lnTo>
                    <a:pt x="0" y="25587"/>
                  </a:lnTo>
                  <a:cubicBezTo>
                    <a:pt x="0" y="18801"/>
                    <a:pt x="2696" y="12293"/>
                    <a:pt x="7494" y="7494"/>
                  </a:cubicBezTo>
                  <a:cubicBezTo>
                    <a:pt x="12293" y="2696"/>
                    <a:pt x="18801" y="0"/>
                    <a:pt x="25587" y="0"/>
                  </a:cubicBez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6" id="6"/>
            <p:cNvSpPr txBox="true"/>
            <p:nvPr/>
          </p:nvSpPr>
          <p:spPr>
            <a:xfrm>
              <a:off x="0" y="-38100"/>
              <a:ext cx="3506322" cy="639674"/>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514350" y="-585021"/>
            <a:ext cx="20051197" cy="1050288"/>
            <a:chOff x="0" y="0"/>
            <a:chExt cx="5280974" cy="276619"/>
          </a:xfrm>
        </p:grpSpPr>
        <p:sp>
          <p:nvSpPr>
            <p:cNvPr name="Freeform 8" id="8"/>
            <p:cNvSpPr/>
            <p:nvPr/>
          </p:nvSpPr>
          <p:spPr>
            <a:xfrm flipH="false" flipV="false" rot="0">
              <a:off x="0" y="0"/>
              <a:ext cx="5280974" cy="276619"/>
            </a:xfrm>
            <a:custGeom>
              <a:avLst/>
              <a:gdLst/>
              <a:ahLst/>
              <a:cxnLst/>
              <a:rect r="r" b="b" t="t" l="l"/>
              <a:pathLst>
                <a:path h="276619" w="5280974">
                  <a:moveTo>
                    <a:pt x="0" y="0"/>
                  </a:moveTo>
                  <a:lnTo>
                    <a:pt x="5280974" y="0"/>
                  </a:lnTo>
                  <a:lnTo>
                    <a:pt x="5280974" y="276619"/>
                  </a:lnTo>
                  <a:lnTo>
                    <a:pt x="0" y="276619"/>
                  </a:ln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9" id="9"/>
            <p:cNvSpPr txBox="true"/>
            <p:nvPr/>
          </p:nvSpPr>
          <p:spPr>
            <a:xfrm>
              <a:off x="0" y="-57150"/>
              <a:ext cx="5280974" cy="333769"/>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5400000">
            <a:off x="7061200" y="-939800"/>
            <a:ext cx="4165600" cy="18288000"/>
          </a:xfrm>
          <a:custGeom>
            <a:avLst/>
            <a:gdLst/>
            <a:ahLst/>
            <a:cxnLst/>
            <a:rect r="r" b="b" t="t" l="l"/>
            <a:pathLst>
              <a:path h="18288000" w="4165600">
                <a:moveTo>
                  <a:pt x="0" y="0"/>
                </a:moveTo>
                <a:lnTo>
                  <a:pt x="4165600" y="0"/>
                </a:lnTo>
                <a:lnTo>
                  <a:pt x="4165600" y="18288000"/>
                </a:lnTo>
                <a:lnTo>
                  <a:pt x="0" y="18288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2639106" y="2341139"/>
            <a:ext cx="13009789" cy="848656"/>
          </a:xfrm>
          <a:prstGeom prst="rect">
            <a:avLst/>
          </a:prstGeom>
        </p:spPr>
        <p:txBody>
          <a:bodyPr anchor="t" rtlCol="false" tIns="0" lIns="0" bIns="0" rIns="0">
            <a:spAutoFit/>
          </a:bodyPr>
          <a:lstStyle/>
          <a:p>
            <a:pPr algn="ctr">
              <a:lnSpc>
                <a:spcPts val="6582"/>
              </a:lnSpc>
            </a:pPr>
            <a:r>
              <a:rPr lang="en-US" sz="6151" b="true">
                <a:solidFill>
                  <a:srgbClr val="FFFFFF"/>
                </a:solidFill>
                <a:latin typeface="Museo Moderno Bold"/>
                <a:ea typeface="Museo Moderno Bold"/>
                <a:cs typeface="Museo Moderno Bold"/>
                <a:sym typeface="Museo Moderno Bold"/>
              </a:rPr>
              <a:t>Waterfall vs. Agile Development</a:t>
            </a:r>
          </a:p>
        </p:txBody>
      </p:sp>
      <p:sp>
        <p:nvSpPr>
          <p:cNvPr name="Freeform 12" id="12"/>
          <p:cNvSpPr/>
          <p:nvPr/>
        </p:nvSpPr>
        <p:spPr>
          <a:xfrm flipH="false" flipV="false" rot="0">
            <a:off x="1617102" y="3775157"/>
            <a:ext cx="2199196" cy="2199196"/>
          </a:xfrm>
          <a:custGeom>
            <a:avLst/>
            <a:gdLst/>
            <a:ahLst/>
            <a:cxnLst/>
            <a:rect r="r" b="b" t="t" l="l"/>
            <a:pathLst>
              <a:path h="2199196" w="2199196">
                <a:moveTo>
                  <a:pt x="0" y="0"/>
                </a:moveTo>
                <a:lnTo>
                  <a:pt x="2199196" y="0"/>
                </a:lnTo>
                <a:lnTo>
                  <a:pt x="2199196" y="2199196"/>
                </a:lnTo>
                <a:lnTo>
                  <a:pt x="0" y="21991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281331" y="3746129"/>
            <a:ext cx="9009369" cy="5512171"/>
            <a:chOff x="0" y="0"/>
            <a:chExt cx="12012491" cy="7349562"/>
          </a:xfrm>
        </p:grpSpPr>
        <p:grpSp>
          <p:nvGrpSpPr>
            <p:cNvPr name="Group 14" id="14"/>
            <p:cNvGrpSpPr/>
            <p:nvPr/>
          </p:nvGrpSpPr>
          <p:grpSpPr>
            <a:xfrm rot="0">
              <a:off x="0" y="743387"/>
              <a:ext cx="12012491" cy="6606175"/>
              <a:chOff x="0" y="0"/>
              <a:chExt cx="1477974" cy="812800"/>
            </a:xfrm>
          </p:grpSpPr>
          <p:sp>
            <p:nvSpPr>
              <p:cNvPr name="Freeform 15" id="15"/>
              <p:cNvSpPr/>
              <p:nvPr/>
            </p:nvSpPr>
            <p:spPr>
              <a:xfrm flipH="false" flipV="false" rot="0">
                <a:off x="0" y="0"/>
                <a:ext cx="1477974" cy="812800"/>
              </a:xfrm>
              <a:custGeom>
                <a:avLst/>
                <a:gdLst/>
                <a:ahLst/>
                <a:cxnLst/>
                <a:rect r="r" b="b" t="t" l="l"/>
                <a:pathLst>
                  <a:path h="812800" w="1477974">
                    <a:moveTo>
                      <a:pt x="1239849" y="0"/>
                    </a:moveTo>
                    <a:lnTo>
                      <a:pt x="1477974" y="238125"/>
                    </a:lnTo>
                    <a:lnTo>
                      <a:pt x="1477974" y="574675"/>
                    </a:lnTo>
                    <a:lnTo>
                      <a:pt x="1239849" y="812800"/>
                    </a:lnTo>
                    <a:lnTo>
                      <a:pt x="238125" y="812800"/>
                    </a:lnTo>
                    <a:lnTo>
                      <a:pt x="0" y="574675"/>
                    </a:lnTo>
                    <a:lnTo>
                      <a:pt x="0" y="238125"/>
                    </a:lnTo>
                    <a:lnTo>
                      <a:pt x="238125" y="0"/>
                    </a:lnTo>
                    <a:lnTo>
                      <a:pt x="1239849" y="0"/>
                    </a:lnTo>
                    <a:close/>
                  </a:path>
                </a:pathLst>
              </a:custGeom>
              <a:solidFill>
                <a:srgbClr val="FFFFFF">
                  <a:alpha val="27843"/>
                </a:srgbClr>
              </a:solidFill>
            </p:spPr>
          </p:sp>
          <p:sp>
            <p:nvSpPr>
              <p:cNvPr name="TextBox 16" id="16"/>
              <p:cNvSpPr txBox="true"/>
              <p:nvPr/>
            </p:nvSpPr>
            <p:spPr>
              <a:xfrm>
                <a:off x="63500" y="15875"/>
                <a:ext cx="1350974" cy="733425"/>
              </a:xfrm>
              <a:prstGeom prst="rect">
                <a:avLst/>
              </a:prstGeom>
            </p:spPr>
            <p:txBody>
              <a:bodyPr anchor="ctr" rtlCol="false" tIns="50800" lIns="50800" bIns="50800" rIns="50800"/>
              <a:lstStyle/>
              <a:p>
                <a:pPr algn="ctr">
                  <a:lnSpc>
                    <a:spcPts val="3431"/>
                  </a:lnSpc>
                </a:pPr>
              </a:p>
            </p:txBody>
          </p:sp>
        </p:grpSp>
        <p:grpSp>
          <p:nvGrpSpPr>
            <p:cNvPr name="Group 17" id="17"/>
            <p:cNvGrpSpPr/>
            <p:nvPr/>
          </p:nvGrpSpPr>
          <p:grpSpPr>
            <a:xfrm rot="0">
              <a:off x="0" y="743387"/>
              <a:ext cx="12012491" cy="6606175"/>
              <a:chOff x="0" y="0"/>
              <a:chExt cx="1477974" cy="812800"/>
            </a:xfrm>
          </p:grpSpPr>
          <p:sp>
            <p:nvSpPr>
              <p:cNvPr name="Freeform 18" id="18"/>
              <p:cNvSpPr/>
              <p:nvPr/>
            </p:nvSpPr>
            <p:spPr>
              <a:xfrm flipH="false" flipV="false" rot="0">
                <a:off x="0" y="0"/>
                <a:ext cx="1477974" cy="812800"/>
              </a:xfrm>
              <a:custGeom>
                <a:avLst/>
                <a:gdLst/>
                <a:ahLst/>
                <a:cxnLst/>
                <a:rect r="r" b="b" t="t" l="l"/>
                <a:pathLst>
                  <a:path h="812800" w="1477974">
                    <a:moveTo>
                      <a:pt x="1239849" y="0"/>
                    </a:moveTo>
                    <a:lnTo>
                      <a:pt x="1477974" y="238125"/>
                    </a:lnTo>
                    <a:lnTo>
                      <a:pt x="1477974" y="574675"/>
                    </a:lnTo>
                    <a:lnTo>
                      <a:pt x="1239849" y="812800"/>
                    </a:lnTo>
                    <a:lnTo>
                      <a:pt x="238125" y="812800"/>
                    </a:lnTo>
                    <a:lnTo>
                      <a:pt x="0" y="574675"/>
                    </a:lnTo>
                    <a:lnTo>
                      <a:pt x="0" y="238125"/>
                    </a:lnTo>
                    <a:lnTo>
                      <a:pt x="238125" y="0"/>
                    </a:lnTo>
                    <a:lnTo>
                      <a:pt x="1239849" y="0"/>
                    </a:lnTo>
                    <a:close/>
                  </a:path>
                </a:pathLst>
              </a:custGeom>
              <a:solidFill>
                <a:srgbClr val="000000">
                  <a:alpha val="0"/>
                </a:srgbClr>
              </a:solidFill>
              <a:ln w="57150" cap="sq">
                <a:gradFill>
                  <a:gsLst>
                    <a:gs pos="0">
                      <a:srgbClr val="00A3FF">
                        <a:alpha val="100000"/>
                      </a:srgbClr>
                    </a:gs>
                    <a:gs pos="100000">
                      <a:srgbClr val="0014CB">
                        <a:alpha val="100000"/>
                      </a:srgbClr>
                    </a:gs>
                  </a:gsLst>
                  <a:path path="circle">
                    <a:fillToRect l="0" r="100000" t="0" b="100000"/>
                  </a:path>
                  <a:tileRect r="0" l="-100000" b="0" t="-100000"/>
                </a:gradFill>
                <a:prstDash val="solid"/>
                <a:miter/>
              </a:ln>
            </p:spPr>
          </p:sp>
          <p:sp>
            <p:nvSpPr>
              <p:cNvPr name="TextBox 19" id="19"/>
              <p:cNvSpPr txBox="true"/>
              <p:nvPr/>
            </p:nvSpPr>
            <p:spPr>
              <a:xfrm>
                <a:off x="63500" y="15875"/>
                <a:ext cx="1350974" cy="733425"/>
              </a:xfrm>
              <a:prstGeom prst="rect">
                <a:avLst/>
              </a:prstGeom>
            </p:spPr>
            <p:txBody>
              <a:bodyPr anchor="ctr" rtlCol="false" tIns="50800" lIns="50800" bIns="50800" rIns="50800"/>
              <a:lstStyle/>
              <a:p>
                <a:pPr algn="ctr">
                  <a:lnSpc>
                    <a:spcPts val="3431"/>
                  </a:lnSpc>
                </a:pPr>
              </a:p>
            </p:txBody>
          </p:sp>
        </p:grpSp>
        <p:sp>
          <p:nvSpPr>
            <p:cNvPr name="TextBox 20" id="20"/>
            <p:cNvSpPr txBox="true"/>
            <p:nvPr/>
          </p:nvSpPr>
          <p:spPr>
            <a:xfrm rot="0">
              <a:off x="383017" y="1439149"/>
              <a:ext cx="11246457" cy="4635997"/>
            </a:xfrm>
            <a:prstGeom prst="rect">
              <a:avLst/>
            </a:prstGeom>
          </p:spPr>
          <p:txBody>
            <a:bodyPr anchor="t" rtlCol="false" tIns="0" lIns="0" bIns="0" rIns="0">
              <a:spAutoFit/>
            </a:bodyPr>
            <a:lstStyle/>
            <a:p>
              <a:pPr algn="ctr">
                <a:lnSpc>
                  <a:spcPts val="3523"/>
                </a:lnSpc>
              </a:pPr>
              <a:r>
                <a:rPr lang="en-US" sz="2516">
                  <a:solidFill>
                    <a:srgbClr val="FFFFFF"/>
                  </a:solidFill>
                  <a:latin typeface="Montserrat"/>
                  <a:ea typeface="Montserrat"/>
                  <a:cs typeface="Montserrat"/>
                  <a:sym typeface="Montserrat"/>
                </a:rPr>
                <a:t>The Waterfall model works as a strict, linear approach requiring major re-planning for requirement changes such as the added filtering feature. Some time could be lost in development until the documentation and approval process gets revised. Late stakeholder feedback could be a potential issue in the project, which can result in a poorly designed part after a lot of code is finished.</a:t>
              </a:r>
            </a:p>
          </p:txBody>
        </p:sp>
        <p:grpSp>
          <p:nvGrpSpPr>
            <p:cNvPr name="Group 21" id="21"/>
            <p:cNvGrpSpPr/>
            <p:nvPr/>
          </p:nvGrpSpPr>
          <p:grpSpPr>
            <a:xfrm rot="0">
              <a:off x="2974706" y="0"/>
              <a:ext cx="6063080" cy="1486774"/>
              <a:chOff x="0" y="0"/>
              <a:chExt cx="2769267" cy="679073"/>
            </a:xfrm>
          </p:grpSpPr>
          <p:sp>
            <p:nvSpPr>
              <p:cNvPr name="Freeform 22" id="22"/>
              <p:cNvSpPr/>
              <p:nvPr/>
            </p:nvSpPr>
            <p:spPr>
              <a:xfrm flipH="false" flipV="false" rot="0">
                <a:off x="0" y="0"/>
                <a:ext cx="2769267" cy="679073"/>
              </a:xfrm>
              <a:custGeom>
                <a:avLst/>
                <a:gdLst/>
                <a:ahLst/>
                <a:cxnLst/>
                <a:rect r="r" b="b" t="t" l="l"/>
                <a:pathLst>
                  <a:path h="679073" w="2769267">
                    <a:moveTo>
                      <a:pt x="2531142" y="0"/>
                    </a:moveTo>
                    <a:lnTo>
                      <a:pt x="2769267" y="238125"/>
                    </a:lnTo>
                    <a:lnTo>
                      <a:pt x="2769267" y="440948"/>
                    </a:lnTo>
                    <a:lnTo>
                      <a:pt x="2531142" y="679073"/>
                    </a:lnTo>
                    <a:lnTo>
                      <a:pt x="238125" y="679073"/>
                    </a:lnTo>
                    <a:lnTo>
                      <a:pt x="0" y="440948"/>
                    </a:lnTo>
                    <a:lnTo>
                      <a:pt x="0" y="238125"/>
                    </a:lnTo>
                    <a:lnTo>
                      <a:pt x="238125" y="0"/>
                    </a:lnTo>
                    <a:lnTo>
                      <a:pt x="2531142" y="0"/>
                    </a:ln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a:ln w="57150" cap="sq">
                <a:gradFill>
                  <a:gsLst>
                    <a:gs pos="0">
                      <a:srgbClr val="00A3FF">
                        <a:alpha val="100000"/>
                      </a:srgbClr>
                    </a:gs>
                    <a:gs pos="100000">
                      <a:srgbClr val="0014CB">
                        <a:alpha val="100000"/>
                      </a:srgbClr>
                    </a:gs>
                  </a:gsLst>
                  <a:path path="circle">
                    <a:fillToRect l="0" r="100000" t="0" b="100000"/>
                  </a:path>
                  <a:tileRect r="0" l="-100000" b="0" t="-100000"/>
                </a:gradFill>
                <a:prstDash val="solid"/>
                <a:miter/>
              </a:ln>
            </p:spPr>
          </p:sp>
          <p:sp>
            <p:nvSpPr>
              <p:cNvPr name="TextBox 23" id="23"/>
              <p:cNvSpPr txBox="true"/>
              <p:nvPr/>
            </p:nvSpPr>
            <p:spPr>
              <a:xfrm>
                <a:off x="63500" y="15875"/>
                <a:ext cx="2642267" cy="599698"/>
              </a:xfrm>
              <a:prstGeom prst="rect">
                <a:avLst/>
              </a:prstGeom>
            </p:spPr>
            <p:txBody>
              <a:bodyPr anchor="ctr" rtlCol="false" tIns="50800" lIns="50800" bIns="50800" rIns="50800"/>
              <a:lstStyle/>
              <a:p>
                <a:pPr algn="ctr">
                  <a:lnSpc>
                    <a:spcPts val="3431"/>
                  </a:lnSpc>
                </a:pPr>
              </a:p>
            </p:txBody>
          </p:sp>
        </p:grpSp>
        <p:sp>
          <p:nvSpPr>
            <p:cNvPr name="TextBox 24" id="24"/>
            <p:cNvSpPr txBox="true"/>
            <p:nvPr/>
          </p:nvSpPr>
          <p:spPr>
            <a:xfrm rot="0">
              <a:off x="3536386" y="291832"/>
              <a:ext cx="4939719" cy="826910"/>
            </a:xfrm>
            <a:prstGeom prst="rect">
              <a:avLst/>
            </a:prstGeom>
          </p:spPr>
          <p:txBody>
            <a:bodyPr anchor="t" rtlCol="false" tIns="0" lIns="0" bIns="0" rIns="0">
              <a:spAutoFit/>
            </a:bodyPr>
            <a:lstStyle/>
            <a:p>
              <a:pPr algn="ctr">
                <a:lnSpc>
                  <a:spcPts val="5203"/>
                </a:lnSpc>
              </a:pPr>
              <a:r>
                <a:rPr lang="en-US" b="true" sz="3716">
                  <a:solidFill>
                    <a:srgbClr val="FFFFFF"/>
                  </a:solidFill>
                  <a:latin typeface="Montserrat Bold"/>
                  <a:ea typeface="Montserrat Bold"/>
                  <a:cs typeface="Montserrat Bold"/>
                  <a:sym typeface="Montserrat Bold"/>
                </a:rPr>
                <a:t>WATERFALL</a:t>
              </a:r>
            </a:p>
          </p:txBody>
        </p:sp>
      </p:grpSp>
      <p:sp>
        <p:nvSpPr>
          <p:cNvPr name="Freeform 25" id="25"/>
          <p:cNvSpPr/>
          <p:nvPr/>
        </p:nvSpPr>
        <p:spPr>
          <a:xfrm flipH="true" flipV="false" rot="0">
            <a:off x="14245738" y="2602508"/>
            <a:ext cx="2452251" cy="2452251"/>
          </a:xfrm>
          <a:custGeom>
            <a:avLst/>
            <a:gdLst/>
            <a:ahLst/>
            <a:cxnLst/>
            <a:rect r="r" b="b" t="t" l="l"/>
            <a:pathLst>
              <a:path h="2452251" w="2452251">
                <a:moveTo>
                  <a:pt x="2452251" y="0"/>
                </a:moveTo>
                <a:lnTo>
                  <a:pt x="0" y="0"/>
                </a:lnTo>
                <a:lnTo>
                  <a:pt x="0" y="2452251"/>
                </a:lnTo>
                <a:lnTo>
                  <a:pt x="2452251" y="2452251"/>
                </a:lnTo>
                <a:lnTo>
                  <a:pt x="2452251"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6" id="26"/>
          <p:cNvGrpSpPr/>
          <p:nvPr/>
        </p:nvGrpSpPr>
        <p:grpSpPr>
          <a:xfrm rot="0">
            <a:off x="9465781" y="3828634"/>
            <a:ext cx="8694200" cy="5319343"/>
            <a:chOff x="0" y="0"/>
            <a:chExt cx="11592267" cy="7092458"/>
          </a:xfrm>
        </p:grpSpPr>
        <p:grpSp>
          <p:nvGrpSpPr>
            <p:cNvPr name="Group 27" id="27"/>
            <p:cNvGrpSpPr/>
            <p:nvPr/>
          </p:nvGrpSpPr>
          <p:grpSpPr>
            <a:xfrm rot="0">
              <a:off x="0" y="717382"/>
              <a:ext cx="11592267" cy="6375076"/>
              <a:chOff x="0" y="0"/>
              <a:chExt cx="1477974" cy="812800"/>
            </a:xfrm>
          </p:grpSpPr>
          <p:sp>
            <p:nvSpPr>
              <p:cNvPr name="Freeform 28" id="28"/>
              <p:cNvSpPr/>
              <p:nvPr/>
            </p:nvSpPr>
            <p:spPr>
              <a:xfrm flipH="false" flipV="false" rot="0">
                <a:off x="0" y="0"/>
                <a:ext cx="1477974" cy="812800"/>
              </a:xfrm>
              <a:custGeom>
                <a:avLst/>
                <a:gdLst/>
                <a:ahLst/>
                <a:cxnLst/>
                <a:rect r="r" b="b" t="t" l="l"/>
                <a:pathLst>
                  <a:path h="812800" w="1477974">
                    <a:moveTo>
                      <a:pt x="1239849" y="0"/>
                    </a:moveTo>
                    <a:lnTo>
                      <a:pt x="1477974" y="238125"/>
                    </a:lnTo>
                    <a:lnTo>
                      <a:pt x="1477974" y="574675"/>
                    </a:lnTo>
                    <a:lnTo>
                      <a:pt x="1239849" y="812800"/>
                    </a:lnTo>
                    <a:lnTo>
                      <a:pt x="238125" y="812800"/>
                    </a:lnTo>
                    <a:lnTo>
                      <a:pt x="0" y="574675"/>
                    </a:lnTo>
                    <a:lnTo>
                      <a:pt x="0" y="238125"/>
                    </a:lnTo>
                    <a:lnTo>
                      <a:pt x="238125" y="0"/>
                    </a:lnTo>
                    <a:lnTo>
                      <a:pt x="1239849" y="0"/>
                    </a:lnTo>
                    <a:close/>
                  </a:path>
                </a:pathLst>
              </a:custGeom>
              <a:solidFill>
                <a:srgbClr val="FFFFFF">
                  <a:alpha val="27843"/>
                </a:srgbClr>
              </a:solidFill>
            </p:spPr>
          </p:sp>
          <p:sp>
            <p:nvSpPr>
              <p:cNvPr name="TextBox 29" id="29"/>
              <p:cNvSpPr txBox="true"/>
              <p:nvPr/>
            </p:nvSpPr>
            <p:spPr>
              <a:xfrm>
                <a:off x="63500" y="15875"/>
                <a:ext cx="1350974" cy="733425"/>
              </a:xfrm>
              <a:prstGeom prst="rect">
                <a:avLst/>
              </a:prstGeom>
            </p:spPr>
            <p:txBody>
              <a:bodyPr anchor="ctr" rtlCol="false" tIns="50800" lIns="50800" bIns="50800" rIns="50800"/>
              <a:lstStyle/>
              <a:p>
                <a:pPr algn="ctr">
                  <a:lnSpc>
                    <a:spcPts val="3431"/>
                  </a:lnSpc>
                </a:pPr>
              </a:p>
            </p:txBody>
          </p:sp>
        </p:grpSp>
        <p:grpSp>
          <p:nvGrpSpPr>
            <p:cNvPr name="Group 30" id="30"/>
            <p:cNvGrpSpPr/>
            <p:nvPr/>
          </p:nvGrpSpPr>
          <p:grpSpPr>
            <a:xfrm rot="0">
              <a:off x="0" y="717382"/>
              <a:ext cx="11592267" cy="6375076"/>
              <a:chOff x="0" y="0"/>
              <a:chExt cx="1477974" cy="812800"/>
            </a:xfrm>
          </p:grpSpPr>
          <p:sp>
            <p:nvSpPr>
              <p:cNvPr name="Freeform 31" id="31"/>
              <p:cNvSpPr/>
              <p:nvPr/>
            </p:nvSpPr>
            <p:spPr>
              <a:xfrm flipH="false" flipV="false" rot="0">
                <a:off x="0" y="0"/>
                <a:ext cx="1477974" cy="812800"/>
              </a:xfrm>
              <a:custGeom>
                <a:avLst/>
                <a:gdLst/>
                <a:ahLst/>
                <a:cxnLst/>
                <a:rect r="r" b="b" t="t" l="l"/>
                <a:pathLst>
                  <a:path h="812800" w="1477974">
                    <a:moveTo>
                      <a:pt x="1239849" y="0"/>
                    </a:moveTo>
                    <a:lnTo>
                      <a:pt x="1477974" y="238125"/>
                    </a:lnTo>
                    <a:lnTo>
                      <a:pt x="1477974" y="574675"/>
                    </a:lnTo>
                    <a:lnTo>
                      <a:pt x="1239849" y="812800"/>
                    </a:lnTo>
                    <a:lnTo>
                      <a:pt x="238125" y="812800"/>
                    </a:lnTo>
                    <a:lnTo>
                      <a:pt x="0" y="574675"/>
                    </a:lnTo>
                    <a:lnTo>
                      <a:pt x="0" y="238125"/>
                    </a:lnTo>
                    <a:lnTo>
                      <a:pt x="238125" y="0"/>
                    </a:lnTo>
                    <a:lnTo>
                      <a:pt x="1239849" y="0"/>
                    </a:lnTo>
                    <a:close/>
                  </a:path>
                </a:pathLst>
              </a:custGeom>
              <a:solidFill>
                <a:srgbClr val="000000">
                  <a:alpha val="0"/>
                </a:srgbClr>
              </a:solidFill>
              <a:ln w="57150" cap="sq">
                <a:gradFill>
                  <a:gsLst>
                    <a:gs pos="0">
                      <a:srgbClr val="00A3FF">
                        <a:alpha val="100000"/>
                      </a:srgbClr>
                    </a:gs>
                    <a:gs pos="100000">
                      <a:srgbClr val="0014CB">
                        <a:alpha val="100000"/>
                      </a:srgbClr>
                    </a:gs>
                  </a:gsLst>
                  <a:path path="circle">
                    <a:fillToRect l="0" r="100000" t="0" b="100000"/>
                  </a:path>
                  <a:tileRect r="0" l="-100000" b="0" t="-100000"/>
                </a:gradFill>
                <a:prstDash val="solid"/>
                <a:miter/>
              </a:ln>
            </p:spPr>
          </p:sp>
          <p:sp>
            <p:nvSpPr>
              <p:cNvPr name="TextBox 32" id="32"/>
              <p:cNvSpPr txBox="true"/>
              <p:nvPr/>
            </p:nvSpPr>
            <p:spPr>
              <a:xfrm>
                <a:off x="63500" y="15875"/>
                <a:ext cx="1350974" cy="733425"/>
              </a:xfrm>
              <a:prstGeom prst="rect">
                <a:avLst/>
              </a:prstGeom>
            </p:spPr>
            <p:txBody>
              <a:bodyPr anchor="ctr" rtlCol="false" tIns="50800" lIns="50800" bIns="50800" rIns="50800"/>
              <a:lstStyle/>
              <a:p>
                <a:pPr algn="ctr">
                  <a:lnSpc>
                    <a:spcPts val="3431"/>
                  </a:lnSpc>
                </a:pPr>
              </a:p>
            </p:txBody>
          </p:sp>
        </p:grpSp>
        <p:sp>
          <p:nvSpPr>
            <p:cNvPr name="TextBox 33" id="33"/>
            <p:cNvSpPr txBox="true"/>
            <p:nvPr/>
          </p:nvSpPr>
          <p:spPr>
            <a:xfrm rot="0">
              <a:off x="1115762" y="1923654"/>
              <a:ext cx="9798010" cy="4737488"/>
            </a:xfrm>
            <a:prstGeom prst="rect">
              <a:avLst/>
            </a:prstGeom>
          </p:spPr>
          <p:txBody>
            <a:bodyPr anchor="t" rtlCol="false" tIns="0" lIns="0" bIns="0" rIns="0">
              <a:spAutoFit/>
            </a:bodyPr>
            <a:lstStyle/>
            <a:p>
              <a:pPr algn="ctr">
                <a:lnSpc>
                  <a:spcPts val="4047"/>
                </a:lnSpc>
              </a:pPr>
              <a:r>
                <a:rPr lang="en-US" sz="2891">
                  <a:solidFill>
                    <a:srgbClr val="FFFFFF"/>
                  </a:solidFill>
                  <a:latin typeface="Montserrat"/>
                  <a:ea typeface="Montserrat"/>
                  <a:cs typeface="Montserrat"/>
                  <a:sym typeface="Montserrat"/>
                </a:rPr>
                <a:t>Agile is iterative, adaptable, and more flexible. The team used Scrum allowing them to change focus after mid-sprint, put the new user expectations without resetting entire development cycle, and re-prioritize the backlog (Irfansyah et al., 2025).</a:t>
              </a:r>
            </a:p>
          </p:txBody>
        </p:sp>
        <p:grpSp>
          <p:nvGrpSpPr>
            <p:cNvPr name="Group 34" id="34"/>
            <p:cNvGrpSpPr/>
            <p:nvPr/>
          </p:nvGrpSpPr>
          <p:grpSpPr>
            <a:xfrm rot="0">
              <a:off x="2870644" y="0"/>
              <a:ext cx="5850979" cy="1434763"/>
              <a:chOff x="0" y="0"/>
              <a:chExt cx="2769267" cy="679073"/>
            </a:xfrm>
          </p:grpSpPr>
          <p:sp>
            <p:nvSpPr>
              <p:cNvPr name="Freeform 35" id="35"/>
              <p:cNvSpPr/>
              <p:nvPr/>
            </p:nvSpPr>
            <p:spPr>
              <a:xfrm flipH="false" flipV="false" rot="0">
                <a:off x="0" y="0"/>
                <a:ext cx="2769267" cy="679073"/>
              </a:xfrm>
              <a:custGeom>
                <a:avLst/>
                <a:gdLst/>
                <a:ahLst/>
                <a:cxnLst/>
                <a:rect r="r" b="b" t="t" l="l"/>
                <a:pathLst>
                  <a:path h="679073" w="2769267">
                    <a:moveTo>
                      <a:pt x="2531142" y="0"/>
                    </a:moveTo>
                    <a:lnTo>
                      <a:pt x="2769267" y="238125"/>
                    </a:lnTo>
                    <a:lnTo>
                      <a:pt x="2769267" y="440948"/>
                    </a:lnTo>
                    <a:lnTo>
                      <a:pt x="2531142" y="679073"/>
                    </a:lnTo>
                    <a:lnTo>
                      <a:pt x="238125" y="679073"/>
                    </a:lnTo>
                    <a:lnTo>
                      <a:pt x="0" y="440948"/>
                    </a:lnTo>
                    <a:lnTo>
                      <a:pt x="0" y="238125"/>
                    </a:lnTo>
                    <a:lnTo>
                      <a:pt x="238125" y="0"/>
                    </a:lnTo>
                    <a:lnTo>
                      <a:pt x="2531142" y="0"/>
                    </a:ln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a:ln w="57150" cap="sq">
                <a:gradFill>
                  <a:gsLst>
                    <a:gs pos="0">
                      <a:srgbClr val="00A3FF">
                        <a:alpha val="100000"/>
                      </a:srgbClr>
                    </a:gs>
                    <a:gs pos="100000">
                      <a:srgbClr val="0014CB">
                        <a:alpha val="100000"/>
                      </a:srgbClr>
                    </a:gs>
                  </a:gsLst>
                  <a:path path="circle">
                    <a:fillToRect l="0" r="100000" t="0" b="100000"/>
                  </a:path>
                  <a:tileRect r="0" l="-100000" b="0" t="-100000"/>
                </a:gradFill>
                <a:prstDash val="solid"/>
                <a:miter/>
              </a:ln>
            </p:spPr>
          </p:sp>
          <p:sp>
            <p:nvSpPr>
              <p:cNvPr name="TextBox 36" id="36"/>
              <p:cNvSpPr txBox="true"/>
              <p:nvPr/>
            </p:nvSpPr>
            <p:spPr>
              <a:xfrm>
                <a:off x="63500" y="15875"/>
                <a:ext cx="2642267" cy="599698"/>
              </a:xfrm>
              <a:prstGeom prst="rect">
                <a:avLst/>
              </a:prstGeom>
            </p:spPr>
            <p:txBody>
              <a:bodyPr anchor="ctr" rtlCol="false" tIns="50800" lIns="50800" bIns="50800" rIns="50800"/>
              <a:lstStyle/>
              <a:p>
                <a:pPr algn="ctr">
                  <a:lnSpc>
                    <a:spcPts val="3431"/>
                  </a:lnSpc>
                </a:pPr>
              </a:p>
            </p:txBody>
          </p:sp>
        </p:grpSp>
        <p:sp>
          <p:nvSpPr>
            <p:cNvPr name="TextBox 37" id="37"/>
            <p:cNvSpPr txBox="true"/>
            <p:nvPr/>
          </p:nvSpPr>
          <p:spPr>
            <a:xfrm rot="0">
              <a:off x="3412676" y="288482"/>
              <a:ext cx="4766916" cy="791123"/>
            </a:xfrm>
            <a:prstGeom prst="rect">
              <a:avLst/>
            </a:prstGeom>
          </p:spPr>
          <p:txBody>
            <a:bodyPr anchor="t" rtlCol="false" tIns="0" lIns="0" bIns="0" rIns="0">
              <a:spAutoFit/>
            </a:bodyPr>
            <a:lstStyle/>
            <a:p>
              <a:pPr algn="ctr">
                <a:lnSpc>
                  <a:spcPts val="5021"/>
                </a:lnSpc>
              </a:pPr>
              <a:r>
                <a:rPr lang="en-US" b="true" sz="3586">
                  <a:solidFill>
                    <a:srgbClr val="FFFFFF"/>
                  </a:solidFill>
                  <a:latin typeface="Montserrat Bold"/>
                  <a:ea typeface="Montserrat Bold"/>
                  <a:cs typeface="Montserrat Bold"/>
                  <a:sym typeface="Montserrat Bold"/>
                </a:rPr>
                <a:t>AGILE</a:t>
              </a:r>
            </a:p>
          </p:txBody>
        </p:sp>
      </p:grpSp>
      <p:sp>
        <p:nvSpPr>
          <p:cNvPr name="TextBox 38" id="38"/>
          <p:cNvSpPr txBox="true"/>
          <p:nvPr/>
        </p:nvSpPr>
        <p:spPr>
          <a:xfrm rot="0">
            <a:off x="557556" y="9210675"/>
            <a:ext cx="17602426" cy="1002669"/>
          </a:xfrm>
          <a:prstGeom prst="rect">
            <a:avLst/>
          </a:prstGeom>
        </p:spPr>
        <p:txBody>
          <a:bodyPr anchor="t" rtlCol="false" tIns="0" lIns="0" bIns="0" rIns="0">
            <a:spAutoFit/>
          </a:bodyPr>
          <a:lstStyle/>
          <a:p>
            <a:pPr algn="ctr">
              <a:lnSpc>
                <a:spcPts val="4059"/>
              </a:lnSpc>
            </a:pPr>
            <a:r>
              <a:rPr lang="en-US" sz="2899">
                <a:solidFill>
                  <a:srgbClr val="FFFFFF"/>
                </a:solidFill>
                <a:latin typeface="Montserrat"/>
                <a:ea typeface="Montserrat"/>
                <a:cs typeface="Montserrat"/>
                <a:sym typeface="Montserrat"/>
              </a:rPr>
              <a:t>Waterfall is perfect for projects that are firmly regulated, disciplined, or fully realized. Agile works where user opinions drive the directive as the project develops.</a:t>
            </a:r>
          </a:p>
        </p:txBody>
      </p:sp>
      <p:sp>
        <p:nvSpPr>
          <p:cNvPr name="TextBox 39" id="39"/>
          <p:cNvSpPr txBox="true"/>
          <p:nvPr/>
        </p:nvSpPr>
        <p:spPr>
          <a:xfrm rot="0">
            <a:off x="3701639" y="789537"/>
            <a:ext cx="1662550"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Roles</a:t>
            </a:r>
          </a:p>
        </p:txBody>
      </p:sp>
      <p:sp>
        <p:nvSpPr>
          <p:cNvPr name="TextBox 40" id="40"/>
          <p:cNvSpPr txBox="true"/>
          <p:nvPr/>
        </p:nvSpPr>
        <p:spPr>
          <a:xfrm rot="0">
            <a:off x="6244335" y="791750"/>
            <a:ext cx="1907082"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Phases</a:t>
            </a:r>
          </a:p>
        </p:txBody>
      </p:sp>
      <p:sp>
        <p:nvSpPr>
          <p:cNvPr name="TextBox 41" id="41"/>
          <p:cNvSpPr txBox="true"/>
          <p:nvPr/>
        </p:nvSpPr>
        <p:spPr>
          <a:xfrm rot="0">
            <a:off x="9276645" y="789537"/>
            <a:ext cx="2274990" cy="413986"/>
          </a:xfrm>
          <a:prstGeom prst="rect">
            <a:avLst/>
          </a:prstGeom>
        </p:spPr>
        <p:txBody>
          <a:bodyPr anchor="t" rtlCol="false" tIns="0" lIns="0" bIns="0" rIns="0">
            <a:spAutoFit/>
          </a:bodyPr>
          <a:lstStyle/>
          <a:p>
            <a:pPr algn="ctr" marL="0" indent="0" lvl="0">
              <a:lnSpc>
                <a:spcPts val="3431"/>
              </a:lnSpc>
              <a:spcBef>
                <a:spcPct val="0"/>
              </a:spcBef>
            </a:pPr>
            <a:r>
              <a:rPr lang="en-US" b="true" sz="2451">
                <a:solidFill>
                  <a:srgbClr val="FFFFFF"/>
                </a:solidFill>
                <a:latin typeface="Montserrat Bold"/>
                <a:ea typeface="Montserrat Bold"/>
                <a:cs typeface="Montserrat Bold"/>
                <a:sym typeface="Montserrat Bold"/>
              </a:rPr>
              <a:t>Comparison</a:t>
            </a:r>
          </a:p>
        </p:txBody>
      </p:sp>
      <p:sp>
        <p:nvSpPr>
          <p:cNvPr name="TextBox 42" id="42"/>
          <p:cNvSpPr txBox="true"/>
          <p:nvPr/>
        </p:nvSpPr>
        <p:spPr>
          <a:xfrm rot="0">
            <a:off x="12676862" y="797895"/>
            <a:ext cx="2224975"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Reference</a:t>
            </a:r>
          </a:p>
        </p:txBody>
      </p:sp>
    </p:spTree>
  </p:cSld>
  <p:clrMapOvr>
    <a:masterClrMapping/>
  </p:clrMapOvr>
  <p:transition spd="fast">
    <p:push dir="r"/>
  </p:transition>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0632">
                <a:alpha val="100000"/>
              </a:srgbClr>
            </a:gs>
            <a:gs pos="100000">
              <a:srgbClr val="000C4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47400" y="7416535"/>
            <a:ext cx="18062683" cy="2791899"/>
            <a:chOff x="0" y="0"/>
            <a:chExt cx="4757250" cy="735315"/>
          </a:xfrm>
        </p:grpSpPr>
        <p:sp>
          <p:nvSpPr>
            <p:cNvPr name="Freeform 3" id="3"/>
            <p:cNvSpPr/>
            <p:nvPr/>
          </p:nvSpPr>
          <p:spPr>
            <a:xfrm flipH="false" flipV="false" rot="0">
              <a:off x="0" y="0"/>
              <a:ext cx="4757250" cy="735315"/>
            </a:xfrm>
            <a:custGeom>
              <a:avLst/>
              <a:gdLst/>
              <a:ahLst/>
              <a:cxnLst/>
              <a:rect r="r" b="b" t="t" l="l"/>
              <a:pathLst>
                <a:path h="735315" w="4757250">
                  <a:moveTo>
                    <a:pt x="18859" y="0"/>
                  </a:moveTo>
                  <a:lnTo>
                    <a:pt x="4738391" y="0"/>
                  </a:lnTo>
                  <a:cubicBezTo>
                    <a:pt x="4748807" y="0"/>
                    <a:pt x="4757250" y="8443"/>
                    <a:pt x="4757250" y="18859"/>
                  </a:cubicBezTo>
                  <a:lnTo>
                    <a:pt x="4757250" y="716456"/>
                  </a:lnTo>
                  <a:cubicBezTo>
                    <a:pt x="4757250" y="726872"/>
                    <a:pt x="4748807" y="735315"/>
                    <a:pt x="4738391" y="735315"/>
                  </a:cubicBezTo>
                  <a:lnTo>
                    <a:pt x="18859" y="735315"/>
                  </a:lnTo>
                  <a:cubicBezTo>
                    <a:pt x="8443" y="735315"/>
                    <a:pt x="0" y="726872"/>
                    <a:pt x="0" y="716456"/>
                  </a:cubicBezTo>
                  <a:lnTo>
                    <a:pt x="0" y="18859"/>
                  </a:lnTo>
                  <a:cubicBezTo>
                    <a:pt x="0" y="8443"/>
                    <a:pt x="8443" y="0"/>
                    <a:pt x="18859" y="0"/>
                  </a:cubicBez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4" id="4"/>
            <p:cNvSpPr txBox="true"/>
            <p:nvPr/>
          </p:nvSpPr>
          <p:spPr>
            <a:xfrm>
              <a:off x="0" y="-38100"/>
              <a:ext cx="4757250" cy="77341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290699" y="-864714"/>
            <a:ext cx="8997301" cy="12016429"/>
          </a:xfrm>
          <a:custGeom>
            <a:avLst/>
            <a:gdLst/>
            <a:ahLst/>
            <a:cxnLst/>
            <a:rect r="r" b="b" t="t" l="l"/>
            <a:pathLst>
              <a:path h="12016429" w="8997301">
                <a:moveTo>
                  <a:pt x="0" y="0"/>
                </a:moveTo>
                <a:lnTo>
                  <a:pt x="8997301" y="0"/>
                </a:lnTo>
                <a:lnTo>
                  <a:pt x="8997301" y="12016428"/>
                </a:lnTo>
                <a:lnTo>
                  <a:pt x="0" y="12016428"/>
                </a:lnTo>
                <a:lnTo>
                  <a:pt x="0" y="0"/>
                </a:lnTo>
                <a:close/>
              </a:path>
            </a:pathLst>
          </a:custGeom>
          <a:blipFill>
            <a:blip r:embed="rId2">
              <a:alphaModFix amt="46000"/>
            </a:blip>
            <a:stretch>
              <a:fillRect l="0" t="0" r="0" b="0"/>
            </a:stretch>
          </a:blipFill>
        </p:spPr>
      </p:sp>
      <p:sp>
        <p:nvSpPr>
          <p:cNvPr name="Freeform 6" id="6"/>
          <p:cNvSpPr/>
          <p:nvPr/>
        </p:nvSpPr>
        <p:spPr>
          <a:xfrm flipH="false" flipV="false" rot="0">
            <a:off x="-521606" y="-652386"/>
            <a:ext cx="8997301" cy="12016429"/>
          </a:xfrm>
          <a:custGeom>
            <a:avLst/>
            <a:gdLst/>
            <a:ahLst/>
            <a:cxnLst/>
            <a:rect r="r" b="b" t="t" l="l"/>
            <a:pathLst>
              <a:path h="12016429" w="8997301">
                <a:moveTo>
                  <a:pt x="0" y="0"/>
                </a:moveTo>
                <a:lnTo>
                  <a:pt x="8997300" y="0"/>
                </a:lnTo>
                <a:lnTo>
                  <a:pt x="8997300" y="12016429"/>
                </a:lnTo>
                <a:lnTo>
                  <a:pt x="0" y="12016429"/>
                </a:lnTo>
                <a:lnTo>
                  <a:pt x="0" y="0"/>
                </a:lnTo>
                <a:close/>
              </a:path>
            </a:pathLst>
          </a:custGeom>
          <a:blipFill>
            <a:blip r:embed="rId2">
              <a:alphaModFix amt="46000"/>
            </a:blip>
            <a:stretch>
              <a:fillRect l="0" t="0" r="0" b="0"/>
            </a:stretch>
          </a:blipFill>
        </p:spPr>
      </p:sp>
      <p:grpSp>
        <p:nvGrpSpPr>
          <p:cNvPr name="Group 7" id="7"/>
          <p:cNvGrpSpPr/>
          <p:nvPr/>
        </p:nvGrpSpPr>
        <p:grpSpPr>
          <a:xfrm rot="0">
            <a:off x="2854716" y="-585021"/>
            <a:ext cx="13313065" cy="2284102"/>
            <a:chOff x="0" y="0"/>
            <a:chExt cx="3506322" cy="601574"/>
          </a:xfrm>
        </p:grpSpPr>
        <p:sp>
          <p:nvSpPr>
            <p:cNvPr name="Freeform 8" id="8"/>
            <p:cNvSpPr/>
            <p:nvPr/>
          </p:nvSpPr>
          <p:spPr>
            <a:xfrm flipH="false" flipV="false" rot="0">
              <a:off x="0" y="0"/>
              <a:ext cx="3506322" cy="601574"/>
            </a:xfrm>
            <a:custGeom>
              <a:avLst/>
              <a:gdLst/>
              <a:ahLst/>
              <a:cxnLst/>
              <a:rect r="r" b="b" t="t" l="l"/>
              <a:pathLst>
                <a:path h="601574" w="3506322">
                  <a:moveTo>
                    <a:pt x="25587" y="0"/>
                  </a:moveTo>
                  <a:lnTo>
                    <a:pt x="3480734" y="0"/>
                  </a:lnTo>
                  <a:cubicBezTo>
                    <a:pt x="3494866" y="0"/>
                    <a:pt x="3506322" y="11456"/>
                    <a:pt x="3506322" y="25587"/>
                  </a:cubicBezTo>
                  <a:lnTo>
                    <a:pt x="3506322" y="575987"/>
                  </a:lnTo>
                  <a:cubicBezTo>
                    <a:pt x="3506322" y="582773"/>
                    <a:pt x="3503626" y="589281"/>
                    <a:pt x="3498827" y="594080"/>
                  </a:cubicBezTo>
                  <a:cubicBezTo>
                    <a:pt x="3494029" y="598879"/>
                    <a:pt x="3487520" y="601574"/>
                    <a:pt x="3480734" y="601574"/>
                  </a:cubicBezTo>
                  <a:lnTo>
                    <a:pt x="25587" y="601574"/>
                  </a:lnTo>
                  <a:cubicBezTo>
                    <a:pt x="11456" y="601574"/>
                    <a:pt x="0" y="590118"/>
                    <a:pt x="0" y="575987"/>
                  </a:cubicBezTo>
                  <a:lnTo>
                    <a:pt x="0" y="25587"/>
                  </a:lnTo>
                  <a:cubicBezTo>
                    <a:pt x="0" y="18801"/>
                    <a:pt x="2696" y="12293"/>
                    <a:pt x="7494" y="7494"/>
                  </a:cubicBezTo>
                  <a:cubicBezTo>
                    <a:pt x="12293" y="2696"/>
                    <a:pt x="18801" y="0"/>
                    <a:pt x="25587" y="0"/>
                  </a:cubicBez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9" id="9"/>
            <p:cNvSpPr txBox="true"/>
            <p:nvPr/>
          </p:nvSpPr>
          <p:spPr>
            <a:xfrm>
              <a:off x="0" y="-38100"/>
              <a:ext cx="3506322" cy="63967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514350" y="-585021"/>
            <a:ext cx="20051197" cy="1050288"/>
            <a:chOff x="0" y="0"/>
            <a:chExt cx="5280974" cy="276619"/>
          </a:xfrm>
        </p:grpSpPr>
        <p:sp>
          <p:nvSpPr>
            <p:cNvPr name="Freeform 11" id="11"/>
            <p:cNvSpPr/>
            <p:nvPr/>
          </p:nvSpPr>
          <p:spPr>
            <a:xfrm flipH="false" flipV="false" rot="0">
              <a:off x="0" y="0"/>
              <a:ext cx="5280974" cy="276619"/>
            </a:xfrm>
            <a:custGeom>
              <a:avLst/>
              <a:gdLst/>
              <a:ahLst/>
              <a:cxnLst/>
              <a:rect r="r" b="b" t="t" l="l"/>
              <a:pathLst>
                <a:path h="276619" w="5280974">
                  <a:moveTo>
                    <a:pt x="0" y="0"/>
                  </a:moveTo>
                  <a:lnTo>
                    <a:pt x="5280974" y="0"/>
                  </a:lnTo>
                  <a:lnTo>
                    <a:pt x="5280974" y="276619"/>
                  </a:lnTo>
                  <a:lnTo>
                    <a:pt x="0" y="276619"/>
                  </a:ln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12" id="12"/>
            <p:cNvSpPr txBox="true"/>
            <p:nvPr/>
          </p:nvSpPr>
          <p:spPr>
            <a:xfrm>
              <a:off x="0" y="-57150"/>
              <a:ext cx="5280974" cy="333769"/>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5400000">
            <a:off x="7061200" y="-939800"/>
            <a:ext cx="4165600" cy="18288000"/>
          </a:xfrm>
          <a:custGeom>
            <a:avLst/>
            <a:gdLst/>
            <a:ahLst/>
            <a:cxnLst/>
            <a:rect r="r" b="b" t="t" l="l"/>
            <a:pathLst>
              <a:path h="18288000" w="4165600">
                <a:moveTo>
                  <a:pt x="0" y="0"/>
                </a:moveTo>
                <a:lnTo>
                  <a:pt x="4165600" y="0"/>
                </a:lnTo>
                <a:lnTo>
                  <a:pt x="4165600" y="18288000"/>
                </a:lnTo>
                <a:lnTo>
                  <a:pt x="0" y="18288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2022012" y="1736463"/>
            <a:ext cx="14978473" cy="2067240"/>
          </a:xfrm>
          <a:prstGeom prst="rect">
            <a:avLst/>
          </a:prstGeom>
        </p:spPr>
        <p:txBody>
          <a:bodyPr anchor="t" rtlCol="false" tIns="0" lIns="0" bIns="0" rIns="0">
            <a:spAutoFit/>
          </a:bodyPr>
          <a:lstStyle/>
          <a:p>
            <a:pPr algn="ctr">
              <a:lnSpc>
                <a:spcPts val="8045"/>
              </a:lnSpc>
            </a:pPr>
            <a:r>
              <a:rPr lang="en-US" sz="7519" b="true">
                <a:solidFill>
                  <a:srgbClr val="FFFFFF"/>
                </a:solidFill>
                <a:latin typeface="Museo Moderno Bold"/>
                <a:ea typeface="Museo Moderno Bold"/>
                <a:cs typeface="Museo Moderno Bold"/>
                <a:sym typeface="Museo Moderno Bold"/>
              </a:rPr>
              <a:t>Choosing Between Agile and Waterfall</a:t>
            </a:r>
          </a:p>
        </p:txBody>
      </p:sp>
      <p:sp>
        <p:nvSpPr>
          <p:cNvPr name="TextBox 15" id="15"/>
          <p:cNvSpPr txBox="true"/>
          <p:nvPr/>
        </p:nvSpPr>
        <p:spPr>
          <a:xfrm rot="0">
            <a:off x="514943" y="4194228"/>
            <a:ext cx="6924202" cy="470826"/>
          </a:xfrm>
          <a:prstGeom prst="rect">
            <a:avLst/>
          </a:prstGeom>
        </p:spPr>
        <p:txBody>
          <a:bodyPr anchor="t" rtlCol="false" tIns="0" lIns="0" bIns="0" rIns="0">
            <a:spAutoFit/>
          </a:bodyPr>
          <a:lstStyle/>
          <a:p>
            <a:pPr algn="just">
              <a:lnSpc>
                <a:spcPts val="3973"/>
              </a:lnSpc>
              <a:spcBef>
                <a:spcPct val="0"/>
              </a:spcBef>
            </a:pPr>
            <a:r>
              <a:rPr lang="en-US" b="true" sz="2838">
                <a:solidFill>
                  <a:srgbClr val="FFFFFF"/>
                </a:solidFill>
                <a:latin typeface="Montserrat Ultra-Bold"/>
                <a:ea typeface="Montserrat Ultra-Bold"/>
                <a:cs typeface="Montserrat Ultra-Bold"/>
                <a:sym typeface="Montserrat Ultra-Bold"/>
              </a:rPr>
              <a:t>WHEN TO CHOOSE WATERFALL</a:t>
            </a:r>
          </a:p>
        </p:txBody>
      </p:sp>
      <p:sp>
        <p:nvSpPr>
          <p:cNvPr name="TextBox 16" id="16"/>
          <p:cNvSpPr txBox="true"/>
          <p:nvPr/>
        </p:nvSpPr>
        <p:spPr>
          <a:xfrm rot="0">
            <a:off x="167963" y="4813049"/>
            <a:ext cx="8127237" cy="1470659"/>
          </a:xfrm>
          <a:prstGeom prst="rect">
            <a:avLst/>
          </a:prstGeom>
        </p:spPr>
        <p:txBody>
          <a:bodyPr anchor="t" rtlCol="false" tIns="0" lIns="0" bIns="0" rIns="0">
            <a:spAutoFit/>
          </a:bodyPr>
          <a:lstStyle/>
          <a:p>
            <a:pPr algn="just">
              <a:lnSpc>
                <a:spcPts val="2940"/>
              </a:lnSpc>
            </a:pPr>
            <a:r>
              <a:rPr lang="en-US" sz="2100">
                <a:solidFill>
                  <a:srgbClr val="FFFFFF"/>
                </a:solidFill>
                <a:latin typeface="Montserrat"/>
                <a:ea typeface="Montserrat"/>
                <a:cs typeface="Montserrat"/>
                <a:sym typeface="Montserrat"/>
              </a:rPr>
              <a:t>Waterfall is most effective when project size is settled, requirements are stable, and sequential documentation is necessary. Examples of when to use Waterfall include the government or safety-critical systems.</a:t>
            </a:r>
          </a:p>
        </p:txBody>
      </p:sp>
      <p:sp>
        <p:nvSpPr>
          <p:cNvPr name="TextBox 17" id="17"/>
          <p:cNvSpPr txBox="true"/>
          <p:nvPr/>
        </p:nvSpPr>
        <p:spPr>
          <a:xfrm rot="0">
            <a:off x="4716125" y="8109871"/>
            <a:ext cx="9590246" cy="470826"/>
          </a:xfrm>
          <a:prstGeom prst="rect">
            <a:avLst/>
          </a:prstGeom>
        </p:spPr>
        <p:txBody>
          <a:bodyPr anchor="t" rtlCol="false" tIns="0" lIns="0" bIns="0" rIns="0">
            <a:spAutoFit/>
          </a:bodyPr>
          <a:lstStyle/>
          <a:p>
            <a:pPr algn="just">
              <a:lnSpc>
                <a:spcPts val="3973"/>
              </a:lnSpc>
              <a:spcBef>
                <a:spcPct val="0"/>
              </a:spcBef>
            </a:pPr>
            <a:r>
              <a:rPr lang="en-US" b="true" sz="2838">
                <a:solidFill>
                  <a:srgbClr val="FFFFFF"/>
                </a:solidFill>
                <a:latin typeface="Montserrat Ultra-Bold"/>
                <a:ea typeface="Montserrat Ultra-Bold"/>
                <a:cs typeface="Montserrat Ultra-Bold"/>
                <a:sym typeface="Montserrat Ultra-Bold"/>
              </a:rPr>
              <a:t>WHY THE AGILE FIT THE SNHU TRAVEL PROJECT</a:t>
            </a:r>
          </a:p>
        </p:txBody>
      </p:sp>
      <p:sp>
        <p:nvSpPr>
          <p:cNvPr name="Freeform 18" id="18"/>
          <p:cNvSpPr/>
          <p:nvPr/>
        </p:nvSpPr>
        <p:spPr>
          <a:xfrm flipH="true" flipV="false" rot="0">
            <a:off x="11650949" y="2719147"/>
            <a:ext cx="5696565" cy="5696565"/>
          </a:xfrm>
          <a:custGeom>
            <a:avLst/>
            <a:gdLst/>
            <a:ahLst/>
            <a:cxnLst/>
            <a:rect r="r" b="b" t="t" l="l"/>
            <a:pathLst>
              <a:path h="5696565" w="5696565">
                <a:moveTo>
                  <a:pt x="5696565" y="0"/>
                </a:moveTo>
                <a:lnTo>
                  <a:pt x="0" y="0"/>
                </a:lnTo>
                <a:lnTo>
                  <a:pt x="0" y="5696565"/>
                </a:lnTo>
                <a:lnTo>
                  <a:pt x="5696565" y="5696565"/>
                </a:lnTo>
                <a:lnTo>
                  <a:pt x="569656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11061112" y="4194228"/>
            <a:ext cx="6876238" cy="470826"/>
          </a:xfrm>
          <a:prstGeom prst="rect">
            <a:avLst/>
          </a:prstGeom>
        </p:spPr>
        <p:txBody>
          <a:bodyPr anchor="t" rtlCol="false" tIns="0" lIns="0" bIns="0" rIns="0">
            <a:spAutoFit/>
          </a:bodyPr>
          <a:lstStyle/>
          <a:p>
            <a:pPr algn="just">
              <a:lnSpc>
                <a:spcPts val="3973"/>
              </a:lnSpc>
              <a:spcBef>
                <a:spcPct val="0"/>
              </a:spcBef>
            </a:pPr>
            <a:r>
              <a:rPr lang="en-US" b="true" sz="2838">
                <a:solidFill>
                  <a:srgbClr val="FFFFFF"/>
                </a:solidFill>
                <a:latin typeface="Montserrat Ultra-Bold"/>
                <a:ea typeface="Montserrat Ultra-Bold"/>
                <a:cs typeface="Montserrat Ultra-Bold"/>
                <a:sym typeface="Montserrat Ultra-Bold"/>
              </a:rPr>
              <a:t>WHEN TO CHOOSE AGILE</a:t>
            </a:r>
          </a:p>
        </p:txBody>
      </p:sp>
      <p:sp>
        <p:nvSpPr>
          <p:cNvPr name="TextBox 20" id="20"/>
          <p:cNvSpPr txBox="true"/>
          <p:nvPr/>
        </p:nvSpPr>
        <p:spPr>
          <a:xfrm rot="0">
            <a:off x="594602" y="8520487"/>
            <a:ext cx="17098795" cy="1687948"/>
          </a:xfrm>
          <a:prstGeom prst="rect">
            <a:avLst/>
          </a:prstGeom>
        </p:spPr>
        <p:txBody>
          <a:bodyPr anchor="t" rtlCol="false" tIns="0" lIns="0" bIns="0" rIns="0">
            <a:spAutoFit/>
          </a:bodyPr>
          <a:lstStyle/>
          <a:p>
            <a:pPr algn="just">
              <a:lnSpc>
                <a:spcPts val="3385"/>
              </a:lnSpc>
            </a:pPr>
            <a:r>
              <a:rPr lang="en-US" sz="2418">
                <a:solidFill>
                  <a:srgbClr val="FFFFFF"/>
                </a:solidFill>
                <a:latin typeface="Montserrat"/>
                <a:ea typeface="Montserrat"/>
                <a:cs typeface="Montserrat"/>
                <a:sym typeface="Montserrat"/>
              </a:rPr>
              <a:t>The project of SNHU Travel incorporated changing customer needs, visual interface adjustments, and iterative refinement-tenets that would be best served with the Agile methodologies. The Scrum framework was critical in making sure that each sprint had working features and that any new ideas were able to be incorporated immediately.</a:t>
            </a:r>
          </a:p>
        </p:txBody>
      </p:sp>
      <p:sp>
        <p:nvSpPr>
          <p:cNvPr name="TextBox 21" id="21"/>
          <p:cNvSpPr txBox="true"/>
          <p:nvPr/>
        </p:nvSpPr>
        <p:spPr>
          <a:xfrm rot="0">
            <a:off x="9378913" y="4813049"/>
            <a:ext cx="7968601" cy="2213609"/>
          </a:xfrm>
          <a:prstGeom prst="rect">
            <a:avLst/>
          </a:prstGeom>
        </p:spPr>
        <p:txBody>
          <a:bodyPr anchor="t" rtlCol="false" tIns="0" lIns="0" bIns="0" rIns="0">
            <a:spAutoFit/>
          </a:bodyPr>
          <a:lstStyle/>
          <a:p>
            <a:pPr algn="just">
              <a:lnSpc>
                <a:spcPts val="2940"/>
              </a:lnSpc>
            </a:pPr>
            <a:r>
              <a:rPr lang="en-US" sz="2100">
                <a:solidFill>
                  <a:srgbClr val="FFFFFF"/>
                </a:solidFill>
                <a:latin typeface="Montserrat"/>
                <a:ea typeface="Montserrat"/>
                <a:cs typeface="Montserrat"/>
                <a:sym typeface="Montserrat"/>
              </a:rPr>
              <a:t>The Agile model is a panacea when requirements differ, user feedback is core, and bringing early incremental delivery is beneficial. Based on the study, Scrum is one of the methods that improve collaboration, decreases risk, and increases speed in environments with dynamism (Bisikirskienė et al., 2025; Irfansyah et al., 2025).</a:t>
            </a:r>
          </a:p>
        </p:txBody>
      </p:sp>
      <p:sp>
        <p:nvSpPr>
          <p:cNvPr name="Freeform 22" id="22"/>
          <p:cNvSpPr/>
          <p:nvPr/>
        </p:nvSpPr>
        <p:spPr>
          <a:xfrm flipH="true" flipV="false" rot="0">
            <a:off x="-1022160" y="1028700"/>
            <a:ext cx="2380246" cy="2380246"/>
          </a:xfrm>
          <a:custGeom>
            <a:avLst/>
            <a:gdLst/>
            <a:ahLst/>
            <a:cxnLst/>
            <a:rect r="r" b="b" t="t" l="l"/>
            <a:pathLst>
              <a:path h="2380246" w="2380246">
                <a:moveTo>
                  <a:pt x="2380246" y="0"/>
                </a:moveTo>
                <a:lnTo>
                  <a:pt x="0" y="0"/>
                </a:lnTo>
                <a:lnTo>
                  <a:pt x="0" y="2380246"/>
                </a:lnTo>
                <a:lnTo>
                  <a:pt x="2380246" y="2380246"/>
                </a:lnTo>
                <a:lnTo>
                  <a:pt x="238024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3701639" y="789537"/>
            <a:ext cx="1662550"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Roles</a:t>
            </a:r>
          </a:p>
        </p:txBody>
      </p:sp>
      <p:sp>
        <p:nvSpPr>
          <p:cNvPr name="TextBox 24" id="24"/>
          <p:cNvSpPr txBox="true"/>
          <p:nvPr/>
        </p:nvSpPr>
        <p:spPr>
          <a:xfrm rot="0">
            <a:off x="6244335" y="791750"/>
            <a:ext cx="1907082"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Phases</a:t>
            </a:r>
          </a:p>
        </p:txBody>
      </p:sp>
      <p:sp>
        <p:nvSpPr>
          <p:cNvPr name="TextBox 25" id="25"/>
          <p:cNvSpPr txBox="true"/>
          <p:nvPr/>
        </p:nvSpPr>
        <p:spPr>
          <a:xfrm rot="0">
            <a:off x="9276645" y="789537"/>
            <a:ext cx="2274990" cy="413986"/>
          </a:xfrm>
          <a:prstGeom prst="rect">
            <a:avLst/>
          </a:prstGeom>
        </p:spPr>
        <p:txBody>
          <a:bodyPr anchor="t" rtlCol="false" tIns="0" lIns="0" bIns="0" rIns="0">
            <a:spAutoFit/>
          </a:bodyPr>
          <a:lstStyle/>
          <a:p>
            <a:pPr algn="ctr" marL="0" indent="0" lvl="0">
              <a:lnSpc>
                <a:spcPts val="3431"/>
              </a:lnSpc>
              <a:spcBef>
                <a:spcPct val="0"/>
              </a:spcBef>
            </a:pPr>
            <a:r>
              <a:rPr lang="en-US" b="true" sz="2451">
                <a:solidFill>
                  <a:srgbClr val="FFFFFF"/>
                </a:solidFill>
                <a:latin typeface="Montserrat Bold"/>
                <a:ea typeface="Montserrat Bold"/>
                <a:cs typeface="Montserrat Bold"/>
                <a:sym typeface="Montserrat Bold"/>
              </a:rPr>
              <a:t>Comparison</a:t>
            </a:r>
          </a:p>
        </p:txBody>
      </p:sp>
      <p:sp>
        <p:nvSpPr>
          <p:cNvPr name="TextBox 26" id="26"/>
          <p:cNvSpPr txBox="true"/>
          <p:nvPr/>
        </p:nvSpPr>
        <p:spPr>
          <a:xfrm rot="0">
            <a:off x="12676862" y="797895"/>
            <a:ext cx="2224975"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Reference</a:t>
            </a:r>
          </a:p>
        </p:txBody>
      </p:sp>
    </p:spTree>
  </p:cSld>
  <p:clrMapOvr>
    <a:masterClrMapping/>
  </p:clrMapOvr>
  <p:transition spd="slow">
    <p:push dir="d"/>
  </p:transition>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0632">
                <a:alpha val="100000"/>
              </a:srgbClr>
            </a:gs>
            <a:gs pos="100000">
              <a:srgbClr val="000C4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2854716" y="-585021"/>
            <a:ext cx="13313065" cy="2284102"/>
            <a:chOff x="0" y="0"/>
            <a:chExt cx="3506322" cy="601574"/>
          </a:xfrm>
        </p:grpSpPr>
        <p:sp>
          <p:nvSpPr>
            <p:cNvPr name="Freeform 3" id="3"/>
            <p:cNvSpPr/>
            <p:nvPr/>
          </p:nvSpPr>
          <p:spPr>
            <a:xfrm flipH="false" flipV="false" rot="0">
              <a:off x="0" y="0"/>
              <a:ext cx="3506322" cy="601574"/>
            </a:xfrm>
            <a:custGeom>
              <a:avLst/>
              <a:gdLst/>
              <a:ahLst/>
              <a:cxnLst/>
              <a:rect r="r" b="b" t="t" l="l"/>
              <a:pathLst>
                <a:path h="601574" w="3506322">
                  <a:moveTo>
                    <a:pt x="25587" y="0"/>
                  </a:moveTo>
                  <a:lnTo>
                    <a:pt x="3480734" y="0"/>
                  </a:lnTo>
                  <a:cubicBezTo>
                    <a:pt x="3494866" y="0"/>
                    <a:pt x="3506322" y="11456"/>
                    <a:pt x="3506322" y="25587"/>
                  </a:cubicBezTo>
                  <a:lnTo>
                    <a:pt x="3506322" y="575987"/>
                  </a:lnTo>
                  <a:cubicBezTo>
                    <a:pt x="3506322" y="582773"/>
                    <a:pt x="3503626" y="589281"/>
                    <a:pt x="3498827" y="594080"/>
                  </a:cubicBezTo>
                  <a:cubicBezTo>
                    <a:pt x="3494029" y="598879"/>
                    <a:pt x="3487520" y="601574"/>
                    <a:pt x="3480734" y="601574"/>
                  </a:cubicBezTo>
                  <a:lnTo>
                    <a:pt x="25587" y="601574"/>
                  </a:lnTo>
                  <a:cubicBezTo>
                    <a:pt x="11456" y="601574"/>
                    <a:pt x="0" y="590118"/>
                    <a:pt x="0" y="575987"/>
                  </a:cubicBezTo>
                  <a:lnTo>
                    <a:pt x="0" y="25587"/>
                  </a:lnTo>
                  <a:cubicBezTo>
                    <a:pt x="0" y="18801"/>
                    <a:pt x="2696" y="12293"/>
                    <a:pt x="7494" y="7494"/>
                  </a:cubicBezTo>
                  <a:cubicBezTo>
                    <a:pt x="12293" y="2696"/>
                    <a:pt x="18801" y="0"/>
                    <a:pt x="25587" y="0"/>
                  </a:cubicBez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4" id="4"/>
            <p:cNvSpPr txBox="true"/>
            <p:nvPr/>
          </p:nvSpPr>
          <p:spPr>
            <a:xfrm>
              <a:off x="0" y="-38100"/>
              <a:ext cx="3506322" cy="63967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007116" y="-432621"/>
            <a:ext cx="13313065" cy="2284102"/>
            <a:chOff x="0" y="0"/>
            <a:chExt cx="3506322" cy="601574"/>
          </a:xfrm>
        </p:grpSpPr>
        <p:sp>
          <p:nvSpPr>
            <p:cNvPr name="Freeform 6" id="6"/>
            <p:cNvSpPr/>
            <p:nvPr/>
          </p:nvSpPr>
          <p:spPr>
            <a:xfrm flipH="false" flipV="false" rot="0">
              <a:off x="0" y="0"/>
              <a:ext cx="3506322" cy="601574"/>
            </a:xfrm>
            <a:custGeom>
              <a:avLst/>
              <a:gdLst/>
              <a:ahLst/>
              <a:cxnLst/>
              <a:rect r="r" b="b" t="t" l="l"/>
              <a:pathLst>
                <a:path h="601574" w="3506322">
                  <a:moveTo>
                    <a:pt x="25587" y="0"/>
                  </a:moveTo>
                  <a:lnTo>
                    <a:pt x="3480734" y="0"/>
                  </a:lnTo>
                  <a:cubicBezTo>
                    <a:pt x="3494866" y="0"/>
                    <a:pt x="3506322" y="11456"/>
                    <a:pt x="3506322" y="25587"/>
                  </a:cubicBezTo>
                  <a:lnTo>
                    <a:pt x="3506322" y="575987"/>
                  </a:lnTo>
                  <a:cubicBezTo>
                    <a:pt x="3506322" y="582773"/>
                    <a:pt x="3503626" y="589281"/>
                    <a:pt x="3498827" y="594080"/>
                  </a:cubicBezTo>
                  <a:cubicBezTo>
                    <a:pt x="3494029" y="598879"/>
                    <a:pt x="3487520" y="601574"/>
                    <a:pt x="3480734" y="601574"/>
                  </a:cubicBezTo>
                  <a:lnTo>
                    <a:pt x="25587" y="601574"/>
                  </a:lnTo>
                  <a:cubicBezTo>
                    <a:pt x="11456" y="601574"/>
                    <a:pt x="0" y="590118"/>
                    <a:pt x="0" y="575987"/>
                  </a:cubicBezTo>
                  <a:lnTo>
                    <a:pt x="0" y="25587"/>
                  </a:lnTo>
                  <a:cubicBezTo>
                    <a:pt x="0" y="18801"/>
                    <a:pt x="2696" y="12293"/>
                    <a:pt x="7494" y="7494"/>
                  </a:cubicBezTo>
                  <a:cubicBezTo>
                    <a:pt x="12293" y="2696"/>
                    <a:pt x="18801" y="0"/>
                    <a:pt x="25587" y="0"/>
                  </a:cubicBez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7" id="7"/>
            <p:cNvSpPr txBox="true"/>
            <p:nvPr/>
          </p:nvSpPr>
          <p:spPr>
            <a:xfrm>
              <a:off x="0" y="-38100"/>
              <a:ext cx="3506322" cy="639674"/>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9290699" y="-864714"/>
            <a:ext cx="8997301" cy="12016429"/>
          </a:xfrm>
          <a:custGeom>
            <a:avLst/>
            <a:gdLst/>
            <a:ahLst/>
            <a:cxnLst/>
            <a:rect r="r" b="b" t="t" l="l"/>
            <a:pathLst>
              <a:path h="12016429" w="8997301">
                <a:moveTo>
                  <a:pt x="0" y="0"/>
                </a:moveTo>
                <a:lnTo>
                  <a:pt x="8997301" y="0"/>
                </a:lnTo>
                <a:lnTo>
                  <a:pt x="8997301" y="12016428"/>
                </a:lnTo>
                <a:lnTo>
                  <a:pt x="0" y="12016428"/>
                </a:lnTo>
                <a:lnTo>
                  <a:pt x="0" y="0"/>
                </a:lnTo>
                <a:close/>
              </a:path>
            </a:pathLst>
          </a:custGeom>
          <a:blipFill>
            <a:blip r:embed="rId2">
              <a:alphaModFix amt="46000"/>
            </a:blip>
            <a:stretch>
              <a:fillRect l="0" t="0" r="0" b="0"/>
            </a:stretch>
          </a:blipFill>
        </p:spPr>
      </p:sp>
      <p:sp>
        <p:nvSpPr>
          <p:cNvPr name="Freeform 9" id="9"/>
          <p:cNvSpPr/>
          <p:nvPr/>
        </p:nvSpPr>
        <p:spPr>
          <a:xfrm flipH="false" flipV="false" rot="0">
            <a:off x="34263" y="-864714"/>
            <a:ext cx="8997301" cy="12016429"/>
          </a:xfrm>
          <a:custGeom>
            <a:avLst/>
            <a:gdLst/>
            <a:ahLst/>
            <a:cxnLst/>
            <a:rect r="r" b="b" t="t" l="l"/>
            <a:pathLst>
              <a:path h="12016429" w="8997301">
                <a:moveTo>
                  <a:pt x="0" y="0"/>
                </a:moveTo>
                <a:lnTo>
                  <a:pt x="8997301" y="0"/>
                </a:lnTo>
                <a:lnTo>
                  <a:pt x="8997301" y="12016428"/>
                </a:lnTo>
                <a:lnTo>
                  <a:pt x="0" y="12016428"/>
                </a:lnTo>
                <a:lnTo>
                  <a:pt x="0" y="0"/>
                </a:lnTo>
                <a:close/>
              </a:path>
            </a:pathLst>
          </a:custGeom>
          <a:blipFill>
            <a:blip r:embed="rId2">
              <a:alphaModFix amt="46000"/>
            </a:blip>
            <a:stretch>
              <a:fillRect l="0" t="0" r="0" b="0"/>
            </a:stretch>
          </a:blipFill>
        </p:spPr>
      </p:sp>
      <p:grpSp>
        <p:nvGrpSpPr>
          <p:cNvPr name="Group 10" id="10"/>
          <p:cNvGrpSpPr/>
          <p:nvPr/>
        </p:nvGrpSpPr>
        <p:grpSpPr>
          <a:xfrm rot="0">
            <a:off x="-514350" y="-585021"/>
            <a:ext cx="20051197" cy="1050288"/>
            <a:chOff x="0" y="0"/>
            <a:chExt cx="5280974" cy="276619"/>
          </a:xfrm>
        </p:grpSpPr>
        <p:sp>
          <p:nvSpPr>
            <p:cNvPr name="Freeform 11" id="11"/>
            <p:cNvSpPr/>
            <p:nvPr/>
          </p:nvSpPr>
          <p:spPr>
            <a:xfrm flipH="false" flipV="false" rot="0">
              <a:off x="0" y="0"/>
              <a:ext cx="5280974" cy="276619"/>
            </a:xfrm>
            <a:custGeom>
              <a:avLst/>
              <a:gdLst/>
              <a:ahLst/>
              <a:cxnLst/>
              <a:rect r="r" b="b" t="t" l="l"/>
              <a:pathLst>
                <a:path h="276619" w="5280974">
                  <a:moveTo>
                    <a:pt x="0" y="0"/>
                  </a:moveTo>
                  <a:lnTo>
                    <a:pt x="5280974" y="0"/>
                  </a:lnTo>
                  <a:lnTo>
                    <a:pt x="5280974" y="276619"/>
                  </a:lnTo>
                  <a:lnTo>
                    <a:pt x="0" y="276619"/>
                  </a:lnTo>
                  <a:close/>
                </a:path>
              </a:pathLst>
            </a:custGeom>
            <a:gradFill rotWithShape="true">
              <a:gsLst>
                <a:gs pos="0">
                  <a:srgbClr val="00A3FF">
                    <a:alpha val="100000"/>
                  </a:srgbClr>
                </a:gs>
                <a:gs pos="100000">
                  <a:srgbClr val="0014CB">
                    <a:alpha val="100000"/>
                  </a:srgbClr>
                </a:gs>
              </a:gsLst>
              <a:path path="circle">
                <a:fillToRect l="0" r="100000" t="0" b="100000"/>
              </a:path>
              <a:tileRect r="0" l="-100000" b="0" t="-100000"/>
            </a:gradFill>
          </p:spPr>
        </p:sp>
        <p:sp>
          <p:nvSpPr>
            <p:cNvPr name="TextBox 12" id="12"/>
            <p:cNvSpPr txBox="true"/>
            <p:nvPr/>
          </p:nvSpPr>
          <p:spPr>
            <a:xfrm>
              <a:off x="0" y="-57150"/>
              <a:ext cx="5280974" cy="333769"/>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5400000">
            <a:off x="7061200" y="-939800"/>
            <a:ext cx="4165600" cy="18288000"/>
          </a:xfrm>
          <a:custGeom>
            <a:avLst/>
            <a:gdLst/>
            <a:ahLst/>
            <a:cxnLst/>
            <a:rect r="r" b="b" t="t" l="l"/>
            <a:pathLst>
              <a:path h="18288000" w="4165600">
                <a:moveTo>
                  <a:pt x="0" y="0"/>
                </a:moveTo>
                <a:lnTo>
                  <a:pt x="4165600" y="0"/>
                </a:lnTo>
                <a:lnTo>
                  <a:pt x="4165600" y="18288000"/>
                </a:lnTo>
                <a:lnTo>
                  <a:pt x="0" y="18288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787527" y="1925911"/>
            <a:ext cx="14712946" cy="993385"/>
          </a:xfrm>
          <a:prstGeom prst="rect">
            <a:avLst/>
          </a:prstGeom>
        </p:spPr>
        <p:txBody>
          <a:bodyPr anchor="t" rtlCol="false" tIns="0" lIns="0" bIns="0" rIns="0">
            <a:spAutoFit/>
          </a:bodyPr>
          <a:lstStyle/>
          <a:p>
            <a:pPr algn="ctr">
              <a:lnSpc>
                <a:spcPts val="8246"/>
              </a:lnSpc>
            </a:pPr>
            <a:r>
              <a:rPr lang="en-US" sz="5890" b="true">
                <a:solidFill>
                  <a:srgbClr val="FFFFFF"/>
                </a:solidFill>
                <a:latin typeface="Museo Moderno Bold"/>
                <a:ea typeface="Museo Moderno Bold"/>
                <a:cs typeface="Museo Moderno Bold"/>
                <a:sym typeface="Museo Moderno Bold"/>
              </a:rPr>
              <a:t>References</a:t>
            </a:r>
          </a:p>
        </p:txBody>
      </p:sp>
      <p:sp>
        <p:nvSpPr>
          <p:cNvPr name="TextBox 15" id="15"/>
          <p:cNvSpPr txBox="true"/>
          <p:nvPr/>
        </p:nvSpPr>
        <p:spPr>
          <a:xfrm rot="0">
            <a:off x="799910" y="3060401"/>
            <a:ext cx="17096056" cy="5844540"/>
          </a:xfrm>
          <a:prstGeom prst="rect">
            <a:avLst/>
          </a:prstGeom>
        </p:spPr>
        <p:txBody>
          <a:bodyPr anchor="t" rtlCol="false" tIns="0" lIns="0" bIns="0" rIns="0">
            <a:spAutoFit/>
          </a:bodyPr>
          <a:lstStyle/>
          <a:p>
            <a:pPr algn="just">
              <a:lnSpc>
                <a:spcPts val="3359"/>
              </a:lnSpc>
            </a:pPr>
            <a:r>
              <a:rPr lang="en-US" sz="2399">
                <a:solidFill>
                  <a:srgbClr val="EFEFEF"/>
                </a:solidFill>
                <a:latin typeface="Montserrat"/>
                <a:ea typeface="Montserrat"/>
                <a:cs typeface="Montserrat"/>
                <a:sym typeface="Montserrat"/>
              </a:rPr>
              <a:t>Bisikirskienė, L., Čeponienė, L., Vilutis, G., &amp; Nečionytė, A. (2025). Software project risk identification based on Scrum artifacts. Applied Sciences, 15(2), 824. </a:t>
            </a:r>
            <a:r>
              <a:rPr lang="en-US" sz="2399" u="sng">
                <a:solidFill>
                  <a:srgbClr val="EFEFEF"/>
                </a:solidFill>
                <a:latin typeface="Montserrat"/>
                <a:ea typeface="Montserrat"/>
                <a:cs typeface="Montserrat"/>
                <a:sym typeface="Montserrat"/>
                <a:hlinkClick r:id="rId5" tooltip="https://doi.org/10.3390/app15020824"/>
              </a:rPr>
              <a:t>=123-456-789</a:t>
            </a:r>
          </a:p>
          <a:p>
            <a:pPr algn="just">
              <a:lnSpc>
                <a:spcPts val="3359"/>
              </a:lnSpc>
              <a:spcBef>
                <a:spcPct val="0"/>
              </a:spcBef>
            </a:pPr>
          </a:p>
          <a:p>
            <a:pPr algn="just">
              <a:lnSpc>
                <a:spcPts val="3359"/>
              </a:lnSpc>
              <a:spcBef>
                <a:spcPct val="0"/>
              </a:spcBef>
            </a:pPr>
            <a:r>
              <a:rPr lang="en-US" sz="2399">
                <a:solidFill>
                  <a:srgbClr val="EFEFEF"/>
                </a:solidFill>
                <a:latin typeface="Montserrat"/>
                <a:ea typeface="Montserrat"/>
                <a:cs typeface="Montserrat"/>
                <a:sym typeface="Montserrat"/>
              </a:rPr>
              <a:t>Capecchi, I., Borghini, T., Berti, D., Ranfagni, S., &amp; Bernetti, I. (2025). Enhancing international B2B sales training in the wine sector through collaborative virtual reality: A case study from Marchesi Antinori. Journal of Theoretical &amp; Applied Electronic Commerce Research, 20(2), 146. </a:t>
            </a:r>
            <a:r>
              <a:rPr lang="en-US" sz="2399" u="sng">
                <a:solidFill>
                  <a:srgbClr val="EFEFEF"/>
                </a:solidFill>
                <a:latin typeface="Montserrat"/>
                <a:ea typeface="Montserrat"/>
                <a:cs typeface="Montserrat"/>
                <a:sym typeface="Montserrat"/>
                <a:hlinkClick r:id="rId6" tooltip="https://doi.org/10.3390/jtaer20020146"/>
              </a:rPr>
              <a:t>=123-456-789</a:t>
            </a:r>
          </a:p>
          <a:p>
            <a:pPr algn="just">
              <a:lnSpc>
                <a:spcPts val="3359"/>
              </a:lnSpc>
              <a:spcBef>
                <a:spcPct val="0"/>
              </a:spcBef>
            </a:pPr>
          </a:p>
          <a:p>
            <a:pPr algn="just">
              <a:lnSpc>
                <a:spcPts val="3359"/>
              </a:lnSpc>
              <a:spcBef>
                <a:spcPct val="0"/>
              </a:spcBef>
            </a:pPr>
            <a:r>
              <a:rPr lang="en-US" sz="2399">
                <a:solidFill>
                  <a:srgbClr val="EFEFEF"/>
                </a:solidFill>
                <a:latin typeface="Montserrat"/>
                <a:ea typeface="Montserrat"/>
                <a:cs typeface="Montserrat"/>
                <a:sym typeface="Montserrat"/>
              </a:rPr>
              <a:t>Irfansyah, M. B., Waheed, B., Winarno, I., &amp; Alimudin, A. (2025). Implementation of Scrum Framework in Modern Software Development Projects. 2025 International Electronics Symposium (IES), 875–880. </a:t>
            </a:r>
            <a:r>
              <a:rPr lang="en-US" sz="2399" u="sng">
                <a:solidFill>
                  <a:srgbClr val="EFEFEF"/>
                </a:solidFill>
                <a:latin typeface="Montserrat"/>
                <a:ea typeface="Montserrat"/>
                <a:cs typeface="Montserrat"/>
                <a:sym typeface="Montserrat"/>
                <a:hlinkClick r:id="rId7" tooltip="https://doi.org/10.1109/IES67184.2025.11161121"/>
              </a:rPr>
              <a:t>=123-456-789</a:t>
            </a:r>
          </a:p>
          <a:p>
            <a:pPr algn="just">
              <a:lnSpc>
                <a:spcPts val="3359"/>
              </a:lnSpc>
              <a:spcBef>
                <a:spcPct val="0"/>
              </a:spcBef>
            </a:pPr>
          </a:p>
          <a:p>
            <a:pPr algn="just">
              <a:lnSpc>
                <a:spcPts val="3359"/>
              </a:lnSpc>
              <a:spcBef>
                <a:spcPct val="0"/>
              </a:spcBef>
            </a:pPr>
            <a:r>
              <a:rPr lang="en-US" sz="2399">
                <a:solidFill>
                  <a:srgbClr val="EFEFEF"/>
                </a:solidFill>
                <a:latin typeface="Montserrat"/>
                <a:ea typeface="Montserrat"/>
                <a:cs typeface="Montserrat"/>
                <a:sym typeface="Montserrat"/>
              </a:rPr>
              <a:t>da Silva Devincenzi, S., Kwecko, V. R., de Lima Bicho, A., de Toledo, F. P., &amp; da Costa Botelho, S. S. (2022). SCRUM applied to Problem-Based Learning: A hybrid model for managing the teaching-learning process. 2022 IEEE Frontiers in Education Conference (FIE), 1–7. </a:t>
            </a:r>
            <a:r>
              <a:rPr lang="en-US" sz="2399" u="sng">
                <a:solidFill>
                  <a:srgbClr val="EFEFEF"/>
                </a:solidFill>
                <a:latin typeface="Montserrat"/>
                <a:ea typeface="Montserrat"/>
                <a:cs typeface="Montserrat"/>
                <a:sym typeface="Montserrat"/>
                <a:hlinkClick r:id="rId8" tooltip="https://doi.org/10.1109/FIE56618.2022.9962502"/>
              </a:rPr>
              <a:t>=123-456-789</a:t>
            </a:r>
          </a:p>
          <a:p>
            <a:pPr algn="just">
              <a:lnSpc>
                <a:spcPts val="3359"/>
              </a:lnSpc>
              <a:spcBef>
                <a:spcPct val="0"/>
              </a:spcBef>
            </a:pPr>
          </a:p>
        </p:txBody>
      </p:sp>
      <p:sp>
        <p:nvSpPr>
          <p:cNvPr name="TextBox 16" id="16"/>
          <p:cNvSpPr txBox="true"/>
          <p:nvPr/>
        </p:nvSpPr>
        <p:spPr>
          <a:xfrm rot="0">
            <a:off x="5484590" y="8862060"/>
            <a:ext cx="1406261" cy="396240"/>
          </a:xfrm>
          <a:prstGeom prst="rect">
            <a:avLst/>
          </a:prstGeom>
        </p:spPr>
        <p:txBody>
          <a:bodyPr anchor="t" rtlCol="false" tIns="0" lIns="0" bIns="0" rIns="0">
            <a:spAutoFit/>
          </a:bodyPr>
          <a:lstStyle/>
          <a:p>
            <a:pPr algn="ctr">
              <a:lnSpc>
                <a:spcPts val="3359"/>
              </a:lnSpc>
              <a:spcBef>
                <a:spcPct val="0"/>
              </a:spcBef>
            </a:pPr>
            <a:r>
              <a:rPr lang="en-US" sz="2399">
                <a:solidFill>
                  <a:srgbClr val="EFEFEF"/>
                </a:solidFill>
                <a:latin typeface="Montserrat"/>
                <a:ea typeface="Montserrat"/>
                <a:cs typeface="Montserrat"/>
                <a:sym typeface="Montserrat"/>
              </a:rPr>
              <a:t>-</a:t>
            </a:r>
          </a:p>
        </p:txBody>
      </p:sp>
      <p:sp>
        <p:nvSpPr>
          <p:cNvPr name="TextBox 17" id="17"/>
          <p:cNvSpPr txBox="true"/>
          <p:nvPr/>
        </p:nvSpPr>
        <p:spPr>
          <a:xfrm rot="0">
            <a:off x="12045686" y="8862060"/>
            <a:ext cx="1406261" cy="396240"/>
          </a:xfrm>
          <a:prstGeom prst="rect">
            <a:avLst/>
          </a:prstGeom>
        </p:spPr>
        <p:txBody>
          <a:bodyPr anchor="t" rtlCol="false" tIns="0" lIns="0" bIns="0" rIns="0">
            <a:spAutoFit/>
          </a:bodyPr>
          <a:lstStyle/>
          <a:p>
            <a:pPr algn="ctr">
              <a:lnSpc>
                <a:spcPts val="3359"/>
              </a:lnSpc>
              <a:spcBef>
                <a:spcPct val="0"/>
              </a:spcBef>
            </a:pPr>
            <a:r>
              <a:rPr lang="en-US" sz="2399">
                <a:solidFill>
                  <a:srgbClr val="EFEFEF"/>
                </a:solidFill>
                <a:latin typeface="Montserrat"/>
                <a:ea typeface="Montserrat"/>
                <a:cs typeface="Montserrat"/>
                <a:sym typeface="Montserrat"/>
              </a:rPr>
              <a:t>-</a:t>
            </a:r>
          </a:p>
        </p:txBody>
      </p:sp>
      <p:sp>
        <p:nvSpPr>
          <p:cNvPr name="Freeform 18" id="18"/>
          <p:cNvSpPr/>
          <p:nvPr/>
        </p:nvSpPr>
        <p:spPr>
          <a:xfrm flipH="false" flipV="false" rot="0">
            <a:off x="-1028700" y="1699081"/>
            <a:ext cx="3657219" cy="3657219"/>
          </a:xfrm>
          <a:custGeom>
            <a:avLst/>
            <a:gdLst/>
            <a:ahLst/>
            <a:cxnLst/>
            <a:rect r="r" b="b" t="t" l="l"/>
            <a:pathLst>
              <a:path h="3657219" w="3657219">
                <a:moveTo>
                  <a:pt x="0" y="0"/>
                </a:moveTo>
                <a:lnTo>
                  <a:pt x="3657219" y="0"/>
                </a:lnTo>
                <a:lnTo>
                  <a:pt x="3657219" y="3657219"/>
                </a:lnTo>
                <a:lnTo>
                  <a:pt x="0" y="365721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16459390" y="4173111"/>
            <a:ext cx="3657219" cy="3657219"/>
          </a:xfrm>
          <a:custGeom>
            <a:avLst/>
            <a:gdLst/>
            <a:ahLst/>
            <a:cxnLst/>
            <a:rect r="r" b="b" t="t" l="l"/>
            <a:pathLst>
              <a:path h="3657219" w="3657219">
                <a:moveTo>
                  <a:pt x="0" y="0"/>
                </a:moveTo>
                <a:lnTo>
                  <a:pt x="3657220" y="0"/>
                </a:lnTo>
                <a:lnTo>
                  <a:pt x="3657220" y="3657219"/>
                </a:lnTo>
                <a:lnTo>
                  <a:pt x="0" y="365721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0" id="20"/>
          <p:cNvSpPr txBox="true"/>
          <p:nvPr/>
        </p:nvSpPr>
        <p:spPr>
          <a:xfrm rot="0">
            <a:off x="3854039" y="941937"/>
            <a:ext cx="1662550"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Roles</a:t>
            </a:r>
          </a:p>
        </p:txBody>
      </p:sp>
      <p:sp>
        <p:nvSpPr>
          <p:cNvPr name="TextBox 21" id="21"/>
          <p:cNvSpPr txBox="true"/>
          <p:nvPr/>
        </p:nvSpPr>
        <p:spPr>
          <a:xfrm rot="0">
            <a:off x="6396735" y="944150"/>
            <a:ext cx="1907082"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Phases</a:t>
            </a:r>
          </a:p>
        </p:txBody>
      </p:sp>
      <p:sp>
        <p:nvSpPr>
          <p:cNvPr name="TextBox 22" id="22"/>
          <p:cNvSpPr txBox="true"/>
          <p:nvPr/>
        </p:nvSpPr>
        <p:spPr>
          <a:xfrm rot="0">
            <a:off x="9429045" y="941937"/>
            <a:ext cx="2274990" cy="413986"/>
          </a:xfrm>
          <a:prstGeom prst="rect">
            <a:avLst/>
          </a:prstGeom>
        </p:spPr>
        <p:txBody>
          <a:bodyPr anchor="t" rtlCol="false" tIns="0" lIns="0" bIns="0" rIns="0">
            <a:spAutoFit/>
          </a:bodyPr>
          <a:lstStyle/>
          <a:p>
            <a:pPr algn="ctr" marL="0" indent="0" lvl="0">
              <a:lnSpc>
                <a:spcPts val="3431"/>
              </a:lnSpc>
              <a:spcBef>
                <a:spcPct val="0"/>
              </a:spcBef>
            </a:pPr>
            <a:r>
              <a:rPr lang="en-US" sz="2451">
                <a:solidFill>
                  <a:srgbClr val="FFFFFF"/>
                </a:solidFill>
                <a:latin typeface="Montserrat"/>
                <a:ea typeface="Montserrat"/>
                <a:cs typeface="Montserrat"/>
                <a:sym typeface="Montserrat"/>
              </a:rPr>
              <a:t>Comparison</a:t>
            </a:r>
          </a:p>
        </p:txBody>
      </p:sp>
      <p:sp>
        <p:nvSpPr>
          <p:cNvPr name="TextBox 23" id="23"/>
          <p:cNvSpPr txBox="true"/>
          <p:nvPr/>
        </p:nvSpPr>
        <p:spPr>
          <a:xfrm rot="0">
            <a:off x="12829262" y="950295"/>
            <a:ext cx="2224975" cy="413986"/>
          </a:xfrm>
          <a:prstGeom prst="rect">
            <a:avLst/>
          </a:prstGeom>
        </p:spPr>
        <p:txBody>
          <a:bodyPr anchor="t" rtlCol="false" tIns="0" lIns="0" bIns="0" rIns="0">
            <a:spAutoFit/>
          </a:bodyPr>
          <a:lstStyle/>
          <a:p>
            <a:pPr algn="ctr" marL="0" indent="0" lvl="0">
              <a:lnSpc>
                <a:spcPts val="3431"/>
              </a:lnSpc>
              <a:spcBef>
                <a:spcPct val="0"/>
              </a:spcBef>
            </a:pPr>
            <a:r>
              <a:rPr lang="en-US" b="true" sz="2451">
                <a:solidFill>
                  <a:srgbClr val="FFFFFF"/>
                </a:solidFill>
                <a:latin typeface="Montserrat Bold"/>
                <a:ea typeface="Montserrat Bold"/>
                <a:cs typeface="Montserrat Bold"/>
                <a:sym typeface="Montserrat Bold"/>
              </a:rPr>
              <a:t>Reference</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DAG7bmyp41w</dc:identifier>
  <dcterms:modified xsi:type="dcterms:W3CDTF">2011-08-01T06:04:30Z</dcterms:modified>
  <cp:revision>1</cp:revision>
  <dc:title>Kyle McCrea</dc:title>
</cp:coreProperties>
</file>